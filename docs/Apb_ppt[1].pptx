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sldIdLst>
    <p:sldId id="256" r:id="rId2"/>
    <p:sldId id="264" r:id="rId3"/>
    <p:sldId id="257" r:id="rId4"/>
    <p:sldId id="275" r:id="rId5"/>
    <p:sldId id="258" r:id="rId6"/>
    <p:sldId id="261" r:id="rId7"/>
    <p:sldId id="262" r:id="rId8"/>
    <p:sldId id="263" r:id="rId9"/>
    <p:sldId id="260" r:id="rId10"/>
    <p:sldId id="265" r:id="rId11"/>
    <p:sldId id="266" r:id="rId12"/>
    <p:sldId id="267" r:id="rId13"/>
    <p:sldId id="268" r:id="rId14"/>
    <p:sldId id="269" r:id="rId15"/>
    <p:sldId id="270" r:id="rId16"/>
    <p:sldId id="271" r:id="rId17"/>
    <p:sldId id="272" r:id="rId18"/>
    <p:sldId id="273" r:id="rId19"/>
    <p:sldId id="274" r:id="rId20"/>
    <p:sldId id="277"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111" d="100"/>
          <a:sy n="111" d="100"/>
        </p:scale>
        <p:origin x="58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E4321B-7705-4442-A933-B39C3141B4C9}"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9FD296E-482A-4481-8F3B-847D52AA1208}" type="slidenum">
              <a:rPr lang="en-IN" smtClean="0"/>
              <a:t>‹#›</a:t>
            </a:fld>
            <a:endParaRPr lang="en-IN"/>
          </a:p>
        </p:txBody>
      </p:sp>
    </p:spTree>
    <p:extLst>
      <p:ext uri="{BB962C8B-B14F-4D97-AF65-F5344CB8AC3E}">
        <p14:creationId xmlns:p14="http://schemas.microsoft.com/office/powerpoint/2010/main" val="669225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E4321B-7705-4442-A933-B39C3141B4C9}"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9FD296E-482A-4481-8F3B-847D52AA1208}" type="slidenum">
              <a:rPr lang="en-IN" smtClean="0"/>
              <a:t>‹#›</a:t>
            </a:fld>
            <a:endParaRPr lang="en-IN"/>
          </a:p>
        </p:txBody>
      </p:sp>
    </p:spTree>
    <p:extLst>
      <p:ext uri="{BB962C8B-B14F-4D97-AF65-F5344CB8AC3E}">
        <p14:creationId xmlns:p14="http://schemas.microsoft.com/office/powerpoint/2010/main" val="2978472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E4321B-7705-4442-A933-B39C3141B4C9}"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9FD296E-482A-4481-8F3B-847D52AA1208}" type="slidenum">
              <a:rPr lang="en-IN" smtClean="0"/>
              <a:t>‹#›</a:t>
            </a:fld>
            <a:endParaRPr lang="en-IN"/>
          </a:p>
        </p:txBody>
      </p:sp>
    </p:spTree>
    <p:extLst>
      <p:ext uri="{BB962C8B-B14F-4D97-AF65-F5344CB8AC3E}">
        <p14:creationId xmlns:p14="http://schemas.microsoft.com/office/powerpoint/2010/main" val="2331436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E4321B-7705-4442-A933-B39C3141B4C9}"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9FD296E-482A-4481-8F3B-847D52AA1208}" type="slidenum">
              <a:rPr lang="en-IN" smtClean="0"/>
              <a:t>‹#›</a:t>
            </a:fld>
            <a:endParaRPr lang="en-IN"/>
          </a:p>
        </p:txBody>
      </p:sp>
    </p:spTree>
    <p:extLst>
      <p:ext uri="{BB962C8B-B14F-4D97-AF65-F5344CB8AC3E}">
        <p14:creationId xmlns:p14="http://schemas.microsoft.com/office/powerpoint/2010/main" val="2596586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E4321B-7705-4442-A933-B39C3141B4C9}" type="datetimeFigureOut">
              <a:rPr lang="en-IN" smtClean="0"/>
              <a:t>06-01-2026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9FD296E-482A-4481-8F3B-847D52AA1208}" type="slidenum">
              <a:rPr lang="en-IN" smtClean="0"/>
              <a:t>‹#›</a:t>
            </a:fld>
            <a:endParaRPr lang="en-IN"/>
          </a:p>
        </p:txBody>
      </p:sp>
    </p:spTree>
    <p:extLst>
      <p:ext uri="{BB962C8B-B14F-4D97-AF65-F5344CB8AC3E}">
        <p14:creationId xmlns:p14="http://schemas.microsoft.com/office/powerpoint/2010/main" val="1562829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E4321B-7705-4442-A933-B39C3141B4C9}" type="datetimeFigureOut">
              <a:rPr lang="en-IN" smtClean="0"/>
              <a:t>06-01-2026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9FD296E-482A-4481-8F3B-847D52AA1208}" type="slidenum">
              <a:rPr lang="en-IN" smtClean="0"/>
              <a:t>‹#›</a:t>
            </a:fld>
            <a:endParaRPr lang="en-IN"/>
          </a:p>
        </p:txBody>
      </p:sp>
    </p:spTree>
    <p:extLst>
      <p:ext uri="{BB962C8B-B14F-4D97-AF65-F5344CB8AC3E}">
        <p14:creationId xmlns:p14="http://schemas.microsoft.com/office/powerpoint/2010/main" val="256845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E4321B-7705-4442-A933-B39C3141B4C9}" type="datetimeFigureOut">
              <a:rPr lang="en-IN" smtClean="0"/>
              <a:t>06-01-2026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9FD296E-482A-4481-8F3B-847D52AA1208}" type="slidenum">
              <a:rPr lang="en-IN" smtClean="0"/>
              <a:t>‹#›</a:t>
            </a:fld>
            <a:endParaRPr lang="en-IN"/>
          </a:p>
        </p:txBody>
      </p:sp>
    </p:spTree>
    <p:extLst>
      <p:ext uri="{BB962C8B-B14F-4D97-AF65-F5344CB8AC3E}">
        <p14:creationId xmlns:p14="http://schemas.microsoft.com/office/powerpoint/2010/main" val="225928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E4321B-7705-4442-A933-B39C3141B4C9}"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9FD296E-482A-4481-8F3B-847D52AA1208}" type="slidenum">
              <a:rPr lang="en-IN" smtClean="0"/>
              <a:t>‹#›</a:t>
            </a:fld>
            <a:endParaRPr lang="en-IN"/>
          </a:p>
        </p:txBody>
      </p:sp>
    </p:spTree>
    <p:extLst>
      <p:ext uri="{BB962C8B-B14F-4D97-AF65-F5344CB8AC3E}">
        <p14:creationId xmlns:p14="http://schemas.microsoft.com/office/powerpoint/2010/main" val="1424545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E4321B-7705-4442-A933-B39C3141B4C9}"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9FD296E-482A-4481-8F3B-847D52AA1208}" type="slidenum">
              <a:rPr lang="en-IN" smtClean="0"/>
              <a:t>‹#›</a:t>
            </a:fld>
            <a:endParaRPr lang="en-IN"/>
          </a:p>
        </p:txBody>
      </p:sp>
    </p:spTree>
    <p:extLst>
      <p:ext uri="{BB962C8B-B14F-4D97-AF65-F5344CB8AC3E}">
        <p14:creationId xmlns:p14="http://schemas.microsoft.com/office/powerpoint/2010/main" val="3491885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E4321B-7705-4442-A933-B39C3141B4C9}"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9FD296E-482A-4481-8F3B-847D52AA1208}" type="slidenum">
              <a:rPr lang="en-IN" smtClean="0"/>
              <a:t>‹#›</a:t>
            </a:fld>
            <a:endParaRPr lang="en-IN"/>
          </a:p>
        </p:txBody>
      </p:sp>
    </p:spTree>
    <p:extLst>
      <p:ext uri="{BB962C8B-B14F-4D97-AF65-F5344CB8AC3E}">
        <p14:creationId xmlns:p14="http://schemas.microsoft.com/office/powerpoint/2010/main" val="2004161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E4321B-7705-4442-A933-B39C3141B4C9}"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9FD296E-482A-4481-8F3B-847D52AA1208}"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156455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8E4321B-7705-4442-A933-B39C3141B4C9}"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9FD296E-482A-4481-8F3B-847D52AA1208}" type="slidenum">
              <a:rPr lang="en-IN" smtClean="0"/>
              <a:t>‹#›</a:t>
            </a:fld>
            <a:endParaRPr lang="en-IN"/>
          </a:p>
        </p:txBody>
      </p:sp>
    </p:spTree>
    <p:extLst>
      <p:ext uri="{BB962C8B-B14F-4D97-AF65-F5344CB8AC3E}">
        <p14:creationId xmlns:p14="http://schemas.microsoft.com/office/powerpoint/2010/main" val="2813719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8E4321B-7705-4442-A933-B39C3141B4C9}"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9FD296E-482A-4481-8F3B-847D52AA1208}"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77025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8E4321B-7705-4442-A933-B39C3141B4C9}"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9FD296E-482A-4481-8F3B-847D52AA1208}" type="slidenum">
              <a:rPr lang="en-IN" smtClean="0"/>
              <a:t>‹#›</a:t>
            </a:fld>
            <a:endParaRPr lang="en-IN"/>
          </a:p>
        </p:txBody>
      </p:sp>
    </p:spTree>
    <p:extLst>
      <p:ext uri="{BB962C8B-B14F-4D97-AF65-F5344CB8AC3E}">
        <p14:creationId xmlns:p14="http://schemas.microsoft.com/office/powerpoint/2010/main" val="15572054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E4321B-7705-4442-A933-B39C3141B4C9}"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9FD296E-482A-4481-8F3B-847D52AA1208}" type="slidenum">
              <a:rPr lang="en-IN" smtClean="0"/>
              <a:t>‹#›</a:t>
            </a:fld>
            <a:endParaRPr lang="en-IN"/>
          </a:p>
        </p:txBody>
      </p:sp>
    </p:spTree>
    <p:extLst>
      <p:ext uri="{BB962C8B-B14F-4D97-AF65-F5344CB8AC3E}">
        <p14:creationId xmlns:p14="http://schemas.microsoft.com/office/powerpoint/2010/main" val="5864780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E4321B-7705-4442-A933-B39C3141B4C9}"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9FD296E-482A-4481-8F3B-847D52AA1208}" type="slidenum">
              <a:rPr lang="en-IN" smtClean="0"/>
              <a:t>‹#›</a:t>
            </a:fld>
            <a:endParaRPr lang="en-IN"/>
          </a:p>
        </p:txBody>
      </p:sp>
    </p:spTree>
    <p:extLst>
      <p:ext uri="{BB962C8B-B14F-4D97-AF65-F5344CB8AC3E}">
        <p14:creationId xmlns:p14="http://schemas.microsoft.com/office/powerpoint/2010/main" val="1248636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8E4321B-7705-4442-A933-B39C3141B4C9}" type="datetimeFigureOut">
              <a:rPr lang="en-IN" smtClean="0"/>
              <a:t>06-01-2026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9FD296E-482A-4481-8F3B-847D52AA1208}" type="slidenum">
              <a:rPr lang="en-IN" smtClean="0"/>
              <a:t>‹#›</a:t>
            </a:fld>
            <a:endParaRPr lang="en-IN"/>
          </a:p>
        </p:txBody>
      </p:sp>
    </p:spTree>
    <p:extLst>
      <p:ext uri="{BB962C8B-B14F-4D97-AF65-F5344CB8AC3E}">
        <p14:creationId xmlns:p14="http://schemas.microsoft.com/office/powerpoint/2010/main" val="2464521687"/>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 id="2147483750" r:id="rId15"/>
    <p:sldLayoutId id="2147483751"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78BB3-593E-7DF6-8F0E-642EDBD3F1DD}"/>
              </a:ext>
            </a:extLst>
          </p:cNvPr>
          <p:cNvSpPr>
            <a:spLocks noGrp="1"/>
          </p:cNvSpPr>
          <p:nvPr>
            <p:ph type="ctrTitle"/>
          </p:nvPr>
        </p:nvSpPr>
        <p:spPr>
          <a:xfrm>
            <a:off x="2212532" y="1296171"/>
            <a:ext cx="7766936" cy="1646302"/>
          </a:xfrm>
        </p:spPr>
        <p:txBody>
          <a:bodyPr/>
          <a:lstStyle/>
          <a:p>
            <a:r>
              <a:rPr lang="en-IN" b="1" i="1" dirty="0"/>
              <a:t>          </a:t>
            </a:r>
            <a:r>
              <a:rPr lang="en-IN" b="1" i="1" dirty="0">
                <a:latin typeface="Times New Roman" panose="02020603050405020304" pitchFamily="18" charset="0"/>
                <a:cs typeface="Times New Roman" panose="02020603050405020304" pitchFamily="18" charset="0"/>
              </a:rPr>
              <a:t>APB PROTOCOL</a:t>
            </a:r>
          </a:p>
        </p:txBody>
      </p:sp>
      <p:sp>
        <p:nvSpPr>
          <p:cNvPr id="3" name="Subtitle 2">
            <a:extLst>
              <a:ext uri="{FF2B5EF4-FFF2-40B4-BE49-F238E27FC236}">
                <a16:creationId xmlns:a16="http://schemas.microsoft.com/office/drawing/2014/main" id="{6BE664BC-B1B8-7223-E0D2-F7F5B7BBAF65}"/>
              </a:ext>
            </a:extLst>
          </p:cNvPr>
          <p:cNvSpPr>
            <a:spLocks noGrp="1"/>
          </p:cNvSpPr>
          <p:nvPr>
            <p:ph type="subTitle" idx="1"/>
          </p:nvPr>
        </p:nvSpPr>
        <p:spPr>
          <a:xfrm>
            <a:off x="2670849" y="3094870"/>
            <a:ext cx="7766936" cy="1096899"/>
          </a:xfrm>
        </p:spPr>
        <p:txBody>
          <a:bodyPr>
            <a:normAutofit/>
          </a:bodyPr>
          <a:lstStyle/>
          <a:p>
            <a:r>
              <a:rPr lang="en-IN" sz="2400" dirty="0">
                <a:latin typeface="Times New Roman" panose="02020603050405020304" pitchFamily="18" charset="0"/>
                <a:cs typeface="Times New Roman" panose="02020603050405020304" pitchFamily="18" charset="0"/>
              </a:rPr>
              <a:t>ADVANCED PERIPHERAL BUS  PROTOCOL</a:t>
            </a:r>
          </a:p>
        </p:txBody>
      </p:sp>
    </p:spTree>
    <p:extLst>
      <p:ext uri="{BB962C8B-B14F-4D97-AF65-F5344CB8AC3E}">
        <p14:creationId xmlns:p14="http://schemas.microsoft.com/office/powerpoint/2010/main" val="1894751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007B3-B1FD-385F-283A-1BD11428E1AF}"/>
              </a:ext>
            </a:extLst>
          </p:cNvPr>
          <p:cNvSpPr>
            <a:spLocks noGrp="1"/>
          </p:cNvSpPr>
          <p:nvPr>
            <p:ph type="title"/>
          </p:nvPr>
        </p:nvSpPr>
        <p:spPr>
          <a:xfrm>
            <a:off x="2116186" y="639740"/>
            <a:ext cx="8911687" cy="1280890"/>
          </a:xfrm>
        </p:spPr>
        <p:txBody>
          <a:bodyPr/>
          <a:lstStyle/>
          <a:p>
            <a:r>
              <a:rPr lang="en-US" dirty="0">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NDEX</a:t>
            </a:r>
          </a:p>
        </p:txBody>
      </p:sp>
      <p:sp>
        <p:nvSpPr>
          <p:cNvPr id="3" name="Content Placeholder 2">
            <a:extLst>
              <a:ext uri="{FF2B5EF4-FFF2-40B4-BE49-F238E27FC236}">
                <a16:creationId xmlns:a16="http://schemas.microsoft.com/office/drawing/2014/main" id="{654157F6-CED1-A4F5-3286-FE2F59FF44FC}"/>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INTRODUCTION OF  AMBA</a:t>
            </a:r>
          </a:p>
          <a:p>
            <a:r>
              <a:rPr lang="en-IN" dirty="0">
                <a:latin typeface="Times New Roman" panose="02020603050405020304" pitchFamily="18" charset="0"/>
                <a:cs typeface="Times New Roman" panose="02020603050405020304" pitchFamily="18" charset="0"/>
              </a:rPr>
              <a:t>ABOUT AMBA BUS ARCHIETICTURE</a:t>
            </a:r>
          </a:p>
          <a:p>
            <a:r>
              <a:rPr lang="en-IN" dirty="0">
                <a:latin typeface="Times New Roman" panose="02020603050405020304" pitchFamily="18" charset="0"/>
                <a:cs typeface="Times New Roman" panose="02020603050405020304" pitchFamily="18" charset="0"/>
              </a:rPr>
              <a:t>INTRODUCTION OF APB PROTOCOL</a:t>
            </a:r>
          </a:p>
          <a:p>
            <a:r>
              <a:rPr lang="en-IN" dirty="0">
                <a:latin typeface="Times New Roman" panose="02020603050405020304" pitchFamily="18" charset="0"/>
                <a:cs typeface="Times New Roman" panose="02020603050405020304" pitchFamily="18" charset="0"/>
              </a:rPr>
              <a:t>SIGNAL DESCRIPTIONS</a:t>
            </a:r>
          </a:p>
          <a:p>
            <a:r>
              <a:rPr lang="en-IN" dirty="0">
                <a:latin typeface="Times New Roman" panose="02020603050405020304" pitchFamily="18" charset="0"/>
                <a:cs typeface="Times New Roman" panose="02020603050405020304" pitchFamily="18" charset="0"/>
              </a:rPr>
              <a:t>MASTER- SLAVE COMMUNICATION</a:t>
            </a:r>
          </a:p>
          <a:p>
            <a:r>
              <a:rPr lang="en-IN" dirty="0">
                <a:latin typeface="Times New Roman" panose="02020603050405020304" pitchFamily="18" charset="0"/>
                <a:cs typeface="Times New Roman" panose="02020603050405020304" pitchFamily="18" charset="0"/>
              </a:rPr>
              <a:t>STATE MACHINE</a:t>
            </a:r>
          </a:p>
          <a:p>
            <a:r>
              <a:rPr lang="en-IN" dirty="0">
                <a:latin typeface="Times New Roman" panose="02020603050405020304" pitchFamily="18" charset="0"/>
                <a:cs typeface="Times New Roman" panose="02020603050405020304" pitchFamily="18" charset="0"/>
              </a:rPr>
              <a:t>TIMING DIAGRAMS</a:t>
            </a:r>
          </a:p>
          <a:p>
            <a:pPr marL="0" indent="0">
              <a:buNone/>
            </a:pP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936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73A2F-3EFC-0DC1-27AC-2076302F7025}"/>
              </a:ext>
            </a:extLst>
          </p:cNvPr>
          <p:cNvSpPr>
            <a:spLocks noGrp="1"/>
          </p:cNvSpPr>
          <p:nvPr>
            <p:ph type="title"/>
          </p:nvPr>
        </p:nvSpPr>
        <p:spPr>
          <a:xfrm>
            <a:off x="2233417" y="585033"/>
            <a:ext cx="8911687" cy="1280890"/>
          </a:xfrm>
        </p:spPr>
        <p:txBody>
          <a:bodyPr/>
          <a:lstStyle/>
          <a:p>
            <a:r>
              <a:rPr lang="en-IN" dirty="0">
                <a:latin typeface="Times New Roman" panose="02020603050405020304" pitchFamily="18" charset="0"/>
                <a:cs typeface="Times New Roman" panose="02020603050405020304" pitchFamily="18" charset="0"/>
              </a:rPr>
              <a:t>INTRODUCTION OF AMBA</a:t>
            </a:r>
          </a:p>
        </p:txBody>
      </p:sp>
      <p:sp>
        <p:nvSpPr>
          <p:cNvPr id="3" name="Content Placeholder 2">
            <a:extLst>
              <a:ext uri="{FF2B5EF4-FFF2-40B4-BE49-F238E27FC236}">
                <a16:creationId xmlns:a16="http://schemas.microsoft.com/office/drawing/2014/main" id="{F55F1200-BB04-3151-9891-77A33D2B1DD3}"/>
              </a:ext>
            </a:extLst>
          </p:cNvPr>
          <p:cNvSpPr>
            <a:spLocks noGrp="1"/>
          </p:cNvSpPr>
          <p:nvPr>
            <p:ph idx="1"/>
          </p:nvPr>
        </p:nvSpPr>
        <p:spPr>
          <a:xfrm>
            <a:off x="857443" y="1488613"/>
            <a:ext cx="8596668" cy="4427278"/>
          </a:xfrm>
        </p:spPr>
        <p:txBody>
          <a:bodyPr/>
          <a:lstStyle/>
          <a:p>
            <a:r>
              <a:rPr lang="en-IN" sz="2000" dirty="0">
                <a:latin typeface="Times New Roman" panose="02020603050405020304" pitchFamily="18" charset="0"/>
                <a:cs typeface="Times New Roman" panose="02020603050405020304" pitchFamily="18" charset="0"/>
              </a:rPr>
              <a:t>AMBA(Advanced micro  control Bus Architecture) is introduced by ARM(Advanced RISC Machine) in 1996.</a:t>
            </a:r>
          </a:p>
          <a:p>
            <a:r>
              <a:rPr lang="en-IN" sz="2000" dirty="0">
                <a:latin typeface="Times New Roman" panose="02020603050405020304" pitchFamily="18" charset="0"/>
                <a:cs typeface="Times New Roman" panose="02020603050405020304" pitchFamily="18" charset="0"/>
              </a:rPr>
              <a:t>AMBA is a family for all protocols. Like as ASB,APB,AHB, AXI….,etc.</a:t>
            </a:r>
          </a:p>
          <a:p>
            <a:r>
              <a:rPr lang="en-IN" sz="2000" dirty="0">
                <a:latin typeface="Times New Roman" panose="02020603050405020304" pitchFamily="18" charset="0"/>
                <a:cs typeface="Times New Roman" panose="02020603050405020304" pitchFamily="18" charset="0"/>
              </a:rPr>
              <a:t>AMBA is a set of interconnect protocols.</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2318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82D7A-1AE1-EE8B-FA09-5C9DB1A578B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AMBA BUS </a:t>
            </a:r>
            <a:r>
              <a:rPr lang="en-IN" dirty="0">
                <a:latin typeface="Times New Roman" panose="02020603050405020304" pitchFamily="18" charset="0"/>
                <a:cs typeface="Times New Roman" panose="02020603050405020304" pitchFamily="18" charset="0"/>
              </a:rPr>
              <a:t>ARCHIETICTURE</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882BF3A7-E827-1B07-92CB-A4BF8830E4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2925" y="1727200"/>
            <a:ext cx="7315546" cy="4376615"/>
          </a:xfrm>
        </p:spPr>
      </p:pic>
    </p:spTree>
    <p:extLst>
      <p:ext uri="{BB962C8B-B14F-4D97-AF65-F5344CB8AC3E}">
        <p14:creationId xmlns:p14="http://schemas.microsoft.com/office/powerpoint/2010/main" val="2937380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BC7BF-DBC5-3230-A383-76CE923077B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APB PROTOCOL</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8AA6798-34C6-AC3A-C2C1-73C6DCC23FBF}"/>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APB  protocol is a part of AMBA family. APB protocol is low-cost interface that optimized for minimal power consumption. </a:t>
            </a:r>
          </a:p>
          <a:p>
            <a:r>
              <a:rPr lang="en-US" sz="2000" dirty="0">
                <a:latin typeface="Times New Roman" panose="02020603050405020304" pitchFamily="18" charset="0"/>
                <a:cs typeface="Times New Roman" panose="02020603050405020304" pitchFamily="18" charset="0"/>
              </a:rPr>
              <a:t>It is reduced interface complexity. It is not pipelined and is a simple.</a:t>
            </a:r>
          </a:p>
          <a:p>
            <a:r>
              <a:rPr lang="en-US" sz="2000" dirty="0">
                <a:latin typeface="Times New Roman" panose="02020603050405020304" pitchFamily="18" charset="0"/>
                <a:cs typeface="Times New Roman" panose="02020603050405020304" pitchFamily="18" charset="0"/>
              </a:rPr>
              <a:t> Every transfer takes at least two cycles to complete.</a:t>
            </a:r>
          </a:p>
          <a:p>
            <a:r>
              <a:rPr lang="en-US" sz="2000" dirty="0">
                <a:latin typeface="Times New Roman" panose="02020603050405020304" pitchFamily="18" charset="0"/>
                <a:cs typeface="Times New Roman" panose="02020603050405020304" pitchFamily="18" charset="0"/>
              </a:rPr>
              <a:t>APB Bridge connected from AHB.</a:t>
            </a:r>
          </a:p>
          <a:p>
            <a:r>
              <a:rPr lang="en-US" sz="2000" dirty="0">
                <a:latin typeface="Times New Roman" panose="02020603050405020304" pitchFamily="18" charset="0"/>
                <a:cs typeface="Times New Roman" panose="02020603050405020304" pitchFamily="18" charset="0"/>
              </a:rPr>
              <a:t>All the singles transitions are only related to the raising edge of the clock to enable the integration of APB peripherals.</a:t>
            </a:r>
          </a:p>
        </p:txBody>
      </p:sp>
    </p:spTree>
    <p:extLst>
      <p:ext uri="{BB962C8B-B14F-4D97-AF65-F5344CB8AC3E}">
        <p14:creationId xmlns:p14="http://schemas.microsoft.com/office/powerpoint/2010/main" val="914496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F44A9-5F63-F44A-B991-85C950DC9EC7}"/>
              </a:ext>
            </a:extLst>
          </p:cNvPr>
          <p:cNvSpPr>
            <a:spLocks noGrp="1"/>
          </p:cNvSpPr>
          <p:nvPr>
            <p:ph type="title"/>
          </p:nvPr>
        </p:nvSpPr>
        <p:spPr>
          <a:xfrm>
            <a:off x="2249048" y="538141"/>
            <a:ext cx="8911687" cy="1280890"/>
          </a:xfrm>
        </p:spPr>
        <p:txBody>
          <a:bodyPr/>
          <a:lstStyle/>
          <a:p>
            <a:r>
              <a:rPr lang="en-US" dirty="0">
                <a:latin typeface="Times New Roman" panose="02020603050405020304" pitchFamily="18" charset="0"/>
                <a:cs typeface="Times New Roman" panose="02020603050405020304" pitchFamily="18" charset="0"/>
              </a:rPr>
              <a:t>Signal Descriptions</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60BA34F-5C15-E677-1880-7EE6F424F21A}"/>
              </a:ext>
            </a:extLst>
          </p:cNvPr>
          <p:cNvSpPr>
            <a:spLocks noGrp="1"/>
          </p:cNvSpPr>
          <p:nvPr>
            <p:ph idx="1"/>
          </p:nvPr>
        </p:nvSpPr>
        <p:spPr>
          <a:xfrm>
            <a:off x="677333" y="1482436"/>
            <a:ext cx="10004521" cy="4599709"/>
          </a:xfrm>
        </p:spPr>
        <p:txBody>
          <a:bodyPr>
            <a:normAutofit/>
          </a:bodyPr>
          <a:lstStyle/>
          <a:p>
            <a:r>
              <a:rPr lang="en-US" b="1" dirty="0">
                <a:latin typeface="Times New Roman" panose="02020603050405020304" pitchFamily="18" charset="0"/>
                <a:cs typeface="Times New Roman" panose="02020603050405020304" pitchFamily="18" charset="0"/>
              </a:rPr>
              <a:t>PCLK</a:t>
            </a:r>
            <a:r>
              <a:rPr lang="en-US" dirty="0">
                <a:latin typeface="Times New Roman" panose="02020603050405020304" pitchFamily="18" charset="0"/>
                <a:cs typeface="Times New Roman" panose="02020603050405020304" pitchFamily="18" charset="0"/>
              </a:rPr>
              <a:t> :      All APB signals are timed against the rising edge of PCLK. </a:t>
            </a:r>
          </a:p>
          <a:p>
            <a:r>
              <a:rPr lang="en-US" b="1" dirty="0">
                <a:latin typeface="Times New Roman" panose="02020603050405020304" pitchFamily="18" charset="0"/>
                <a:cs typeface="Times New Roman" panose="02020603050405020304" pitchFamily="18" charset="0"/>
              </a:rPr>
              <a:t>PRESETn :</a:t>
            </a:r>
            <a:r>
              <a:rPr lang="en-US" dirty="0">
                <a:latin typeface="Times New Roman" panose="02020603050405020304" pitchFamily="18" charset="0"/>
                <a:cs typeface="Times New Roman" panose="02020603050405020304" pitchFamily="18" charset="0"/>
              </a:rPr>
              <a:t> PRESETn is the reset signal and is Active-LOW.</a:t>
            </a:r>
          </a:p>
          <a:p>
            <a:pPr marL="457200" lvl="1" indent="0">
              <a:buNone/>
            </a:pPr>
            <a:r>
              <a:rPr lang="en-US" dirty="0">
                <a:latin typeface="Times New Roman" panose="02020603050405020304" pitchFamily="18" charset="0"/>
                <a:cs typeface="Times New Roman" panose="02020603050405020304" pitchFamily="18" charset="0"/>
              </a:rPr>
              <a:t>	          PRESETn is normally connected directly to the system bus reset signal.</a:t>
            </a:r>
            <a:endParaRPr lang="en-US"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PADDR :  </a:t>
            </a:r>
            <a:r>
              <a:rPr lang="en-US" dirty="0">
                <a:latin typeface="Times New Roman" panose="02020603050405020304" pitchFamily="18" charset="0"/>
                <a:cs typeface="Times New Roman" panose="02020603050405020304" pitchFamily="18" charset="0"/>
              </a:rPr>
              <a:t>PADDR is the APB address bus. PADDR can be up to 32 bits wide.</a:t>
            </a:r>
          </a:p>
          <a:p>
            <a:r>
              <a:rPr lang="en-US" b="1" dirty="0">
                <a:latin typeface="Times New Roman" panose="02020603050405020304" pitchFamily="18" charset="0"/>
                <a:cs typeface="Times New Roman" panose="02020603050405020304" pitchFamily="18" charset="0"/>
              </a:rPr>
              <a:t>PSELx :  </a:t>
            </a: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APB</a:t>
            </a:r>
            <a:r>
              <a:rPr lang="en-US" dirty="0">
                <a:latin typeface="Times New Roman" panose="02020603050405020304" pitchFamily="18" charset="0"/>
                <a:cs typeface="Times New Roman" panose="02020603050405020304" pitchFamily="18" charset="0"/>
              </a:rPr>
              <a:t> bridge unit generates this signal to each peripheral bus slave. It indicates that the 		      slave is selected and that a data transfer is required. There is each </a:t>
            </a:r>
            <a:r>
              <a:rPr lang="en-US" b="1" dirty="0">
                <a:latin typeface="Times New Roman" panose="02020603050405020304" pitchFamily="18" charset="0"/>
                <a:cs typeface="Times New Roman" panose="02020603050405020304" pitchFamily="18" charset="0"/>
              </a:rPr>
              <a:t>PSELx  </a:t>
            </a:r>
            <a:r>
              <a:rPr lang="en-US" dirty="0">
                <a:latin typeface="Times New Roman" panose="02020603050405020304" pitchFamily="18" charset="0"/>
                <a:cs typeface="Times New Roman" panose="02020603050405020304" pitchFamily="18" charset="0"/>
              </a:rPr>
              <a:t>signal for each 			      slave.</a:t>
            </a:r>
          </a:p>
          <a:p>
            <a:r>
              <a:rPr lang="en-US" b="1" dirty="0">
                <a:latin typeface="Times New Roman" panose="02020603050405020304" pitchFamily="18" charset="0"/>
                <a:cs typeface="Times New Roman" panose="02020603050405020304" pitchFamily="18" charset="0"/>
              </a:rPr>
              <a:t>PENABLE:  PENABLE</a:t>
            </a:r>
            <a:r>
              <a:rPr lang="en-US" dirty="0">
                <a:latin typeface="Times New Roman" panose="02020603050405020304" pitchFamily="18" charset="0"/>
                <a:cs typeface="Times New Roman" panose="02020603050405020304" pitchFamily="18" charset="0"/>
              </a:rPr>
              <a:t> indicates the second and subsequent cycles of an APB transfer.</a:t>
            </a:r>
          </a:p>
          <a:p>
            <a:r>
              <a:rPr lang="en-IN" b="1" dirty="0">
                <a:latin typeface="Times New Roman" panose="02020603050405020304" pitchFamily="18" charset="0"/>
                <a:cs typeface="Times New Roman" panose="02020603050405020304" pitchFamily="18" charset="0"/>
              </a:rPr>
              <a:t>PWRITE: </a:t>
            </a:r>
            <a:r>
              <a:rPr lang="en-IN" dirty="0">
                <a:latin typeface="Times New Roman" panose="02020603050405020304" pitchFamily="18" charset="0"/>
                <a:cs typeface="Times New Roman" panose="02020603050405020304" pitchFamily="18" charset="0"/>
              </a:rPr>
              <a:t>The signal indicates an</a:t>
            </a:r>
            <a:r>
              <a:rPr lang="en-IN" b="1" dirty="0">
                <a:latin typeface="Times New Roman" panose="02020603050405020304" pitchFamily="18" charset="0"/>
                <a:cs typeface="Times New Roman" panose="02020603050405020304" pitchFamily="18" charset="0"/>
              </a:rPr>
              <a:t> APB </a:t>
            </a:r>
            <a:r>
              <a:rPr lang="en-IN" dirty="0">
                <a:latin typeface="Times New Roman" panose="02020603050405020304" pitchFamily="18" charset="0"/>
                <a:cs typeface="Times New Roman" panose="02020603050405020304" pitchFamily="18" charset="0"/>
              </a:rPr>
              <a:t>write access when </a:t>
            </a:r>
            <a:r>
              <a:rPr lang="en-IN" b="1" dirty="0">
                <a:latin typeface="Times New Roman" panose="02020603050405020304" pitchFamily="18" charset="0"/>
                <a:cs typeface="Times New Roman" panose="02020603050405020304" pitchFamily="18" charset="0"/>
              </a:rPr>
              <a:t>HIGH </a:t>
            </a:r>
            <a:r>
              <a:rPr lang="en-IN" dirty="0">
                <a:latin typeface="Times New Roman" panose="02020603050405020304" pitchFamily="18" charset="0"/>
                <a:cs typeface="Times New Roman" panose="02020603050405020304" pitchFamily="18" charset="0"/>
              </a:rPr>
              <a:t>and an </a:t>
            </a:r>
            <a:r>
              <a:rPr lang="en-IN" b="1" dirty="0">
                <a:latin typeface="Times New Roman" panose="02020603050405020304" pitchFamily="18" charset="0"/>
                <a:cs typeface="Times New Roman" panose="02020603050405020304" pitchFamily="18" charset="0"/>
              </a:rPr>
              <a:t>APB </a:t>
            </a:r>
            <a:r>
              <a:rPr lang="en-IN" dirty="0">
                <a:latin typeface="Times New Roman" panose="02020603050405020304" pitchFamily="18" charset="0"/>
                <a:cs typeface="Times New Roman" panose="02020603050405020304" pitchFamily="18" charset="0"/>
              </a:rPr>
              <a:t>read access when 			        </a:t>
            </a:r>
            <a:r>
              <a:rPr lang="en-IN" b="1" dirty="0">
                <a:latin typeface="Times New Roman" panose="02020603050405020304" pitchFamily="18" charset="0"/>
                <a:cs typeface="Times New Roman" panose="02020603050405020304" pitchFamily="18" charset="0"/>
              </a:rPr>
              <a:t> LOW.</a:t>
            </a:r>
          </a:p>
          <a:p>
            <a:r>
              <a:rPr lang="en-IN" b="1" dirty="0">
                <a:latin typeface="Times New Roman" panose="02020603050405020304" pitchFamily="18" charset="0"/>
                <a:cs typeface="Times New Roman" panose="02020603050405020304" pitchFamily="18" charset="0"/>
              </a:rPr>
              <a:t>PWDATA:  </a:t>
            </a:r>
            <a:r>
              <a:rPr lang="en-US" dirty="0">
                <a:latin typeface="Times New Roman" panose="02020603050405020304" pitchFamily="18" charset="0"/>
                <a:cs typeface="Times New Roman" panose="02020603050405020304" pitchFamily="18" charset="0"/>
              </a:rPr>
              <a:t>The PWDATA write data bus is driven by the APB bridge when</a:t>
            </a:r>
            <a:r>
              <a:rPr lang="en-US" b="1" dirty="0">
                <a:latin typeface="Times New Roman" panose="02020603050405020304" pitchFamily="18" charset="0"/>
                <a:cs typeface="Times New Roman" panose="02020603050405020304" pitchFamily="18" charset="0"/>
              </a:rPr>
              <a:t> PWRITE  </a:t>
            </a:r>
            <a:r>
              <a:rPr lang="en-US" dirty="0">
                <a:latin typeface="Times New Roman" panose="02020603050405020304" pitchFamily="18" charset="0"/>
                <a:cs typeface="Times New Roman" panose="02020603050405020304" pitchFamily="18" charset="0"/>
              </a:rPr>
              <a:t>is</a:t>
            </a:r>
            <a:r>
              <a:rPr lang="en-US" b="1" dirty="0">
                <a:latin typeface="Times New Roman" panose="02020603050405020304" pitchFamily="18" charset="0"/>
                <a:cs typeface="Times New Roman" panose="02020603050405020304" pitchFamily="18" charset="0"/>
              </a:rPr>
              <a:t> HIGH.</a:t>
            </a:r>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1126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0EA73-CDA6-E518-818C-1B62E88C8D1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SIGNAL DESCRIPTIONS</a:t>
            </a:r>
            <a:r>
              <a:rPr lang="en-IN" dirty="0"/>
              <a:t>..</a:t>
            </a:r>
          </a:p>
        </p:txBody>
      </p:sp>
      <p:sp>
        <p:nvSpPr>
          <p:cNvPr id="3" name="Content Placeholder 2">
            <a:extLst>
              <a:ext uri="{FF2B5EF4-FFF2-40B4-BE49-F238E27FC236}">
                <a16:creationId xmlns:a16="http://schemas.microsoft.com/office/drawing/2014/main" id="{CF41A42C-D5C0-DD20-EBA2-8E8B67BA218B}"/>
              </a:ext>
            </a:extLst>
          </p:cNvPr>
          <p:cNvSpPr>
            <a:spLocks noGrp="1"/>
          </p:cNvSpPr>
          <p:nvPr>
            <p:ph idx="1"/>
          </p:nvPr>
        </p:nvSpPr>
        <p:spPr/>
        <p:txBody>
          <a:bodyPr/>
          <a:lstStyle/>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PRDATA :</a:t>
            </a:r>
            <a:r>
              <a:rPr lang="en-US" dirty="0">
                <a:latin typeface="Times New Roman" panose="02020603050405020304" pitchFamily="18" charset="0"/>
                <a:cs typeface="Times New Roman" panose="02020603050405020304" pitchFamily="18" charset="0"/>
              </a:rPr>
              <a:t> The  </a:t>
            </a:r>
            <a:r>
              <a:rPr lang="en-US" b="1" dirty="0">
                <a:latin typeface="Times New Roman" panose="02020603050405020304" pitchFamily="18" charset="0"/>
                <a:cs typeface="Times New Roman" panose="02020603050405020304" pitchFamily="18" charset="0"/>
              </a:rPr>
              <a:t>PRDATA </a:t>
            </a:r>
            <a:r>
              <a:rPr lang="en-US" dirty="0">
                <a:latin typeface="Times New Roman" panose="02020603050405020304" pitchFamily="18" charset="0"/>
                <a:cs typeface="Times New Roman" panose="02020603050405020304" pitchFamily="18" charset="0"/>
              </a:rPr>
              <a:t>read data bus is driven by the APB peripheral bus slave     					when </a:t>
            </a:r>
            <a:r>
              <a:rPr lang="en-US" b="1" dirty="0">
                <a:latin typeface="Times New Roman" panose="02020603050405020304" pitchFamily="18" charset="0"/>
                <a:cs typeface="Times New Roman" panose="02020603050405020304" pitchFamily="18" charset="0"/>
              </a:rPr>
              <a:t>PWRITE  </a:t>
            </a:r>
            <a:r>
              <a:rPr lang="en-US" dirty="0">
                <a:latin typeface="Times New Roman" panose="02020603050405020304" pitchFamily="18" charset="0"/>
                <a:cs typeface="Times New Roman" panose="02020603050405020304" pitchFamily="18" charset="0"/>
              </a:rPr>
              <a:t>is </a:t>
            </a:r>
            <a:r>
              <a:rPr lang="en-US" b="1" dirty="0">
                <a:latin typeface="Times New Roman" panose="02020603050405020304" pitchFamily="18" charset="0"/>
                <a:cs typeface="Times New Roman" panose="02020603050405020304" pitchFamily="18" charset="0"/>
              </a:rPr>
              <a:t>  LOW</a:t>
            </a:r>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PREADY</a:t>
            </a:r>
            <a:r>
              <a:rPr lang="en-IN" dirty="0">
                <a:latin typeface="Times New Roman" panose="02020603050405020304" pitchFamily="18" charset="0"/>
                <a:cs typeface="Times New Roman" panose="02020603050405020304" pitchFamily="18" charset="0"/>
              </a:rPr>
              <a:t>: The APB peripheral slave uses this signal to extend an APB transfer.</a:t>
            </a:r>
          </a:p>
          <a:p>
            <a:r>
              <a:rPr lang="en-IN" b="1" dirty="0">
                <a:latin typeface="Times New Roman" panose="02020603050405020304" pitchFamily="18" charset="0"/>
                <a:cs typeface="Times New Roman" panose="02020603050405020304" pitchFamily="18" charset="0"/>
              </a:rPr>
              <a:t>PSLVERR: </a:t>
            </a:r>
            <a:r>
              <a:rPr lang="en-IN" dirty="0">
                <a:latin typeface="Times New Roman" panose="02020603050405020304" pitchFamily="18" charset="0"/>
                <a:cs typeface="Times New Roman" panose="02020603050405020304" pitchFamily="18" charset="0"/>
              </a:rPr>
              <a:t>This signal indicates transfer failure. </a:t>
            </a:r>
            <a:r>
              <a:rPr lang="en-IN" b="1" dirty="0">
                <a:latin typeface="Times New Roman" panose="02020603050405020304" pitchFamily="18" charset="0"/>
                <a:cs typeface="Times New Roman" panose="02020603050405020304" pitchFamily="18" charset="0"/>
              </a:rPr>
              <a:t>PSLVERR </a:t>
            </a:r>
            <a:r>
              <a:rPr lang="en-IN" dirty="0">
                <a:latin typeface="Times New Roman" panose="02020603050405020304" pitchFamily="18" charset="0"/>
                <a:cs typeface="Times New Roman" panose="02020603050405020304" pitchFamily="18" charset="0"/>
              </a:rPr>
              <a:t>is </a:t>
            </a:r>
            <a:r>
              <a:rPr lang="en-IN" b="1" dirty="0">
                <a:latin typeface="Times New Roman" panose="02020603050405020304" pitchFamily="18" charset="0"/>
                <a:cs typeface="Times New Roman" panose="02020603050405020304" pitchFamily="18" charset="0"/>
              </a:rPr>
              <a:t>HIGH </a:t>
            </a:r>
            <a:r>
              <a:rPr lang="en-IN" dirty="0">
                <a:latin typeface="Times New Roman" panose="02020603050405020304" pitchFamily="18" charset="0"/>
                <a:cs typeface="Times New Roman" panose="02020603050405020304" pitchFamily="18" charset="0"/>
              </a:rPr>
              <a:t>when </a:t>
            </a:r>
            <a:r>
              <a:rPr lang="en-IN" b="1" dirty="0">
                <a:latin typeface="Times New Roman" panose="02020603050405020304" pitchFamily="18" charset="0"/>
                <a:cs typeface="Times New Roman" panose="02020603050405020304" pitchFamily="18" charset="0"/>
              </a:rPr>
              <a:t>PSELx,     			  PENABLE, PREADY </a:t>
            </a:r>
            <a:r>
              <a:rPr lang="en-IN" dirty="0">
                <a:latin typeface="Times New Roman" panose="02020603050405020304" pitchFamily="18" charset="0"/>
                <a:cs typeface="Times New Roman" panose="02020603050405020304" pitchFamily="18" charset="0"/>
              </a:rPr>
              <a:t>are </a:t>
            </a:r>
            <a:r>
              <a:rPr lang="en-IN" b="1" dirty="0">
                <a:latin typeface="Times New Roman" panose="02020603050405020304" pitchFamily="18" charset="0"/>
                <a:cs typeface="Times New Roman" panose="02020603050405020304" pitchFamily="18" charset="0"/>
              </a:rPr>
              <a:t>HIGH </a:t>
            </a:r>
            <a:r>
              <a:rPr lang="en-IN" dirty="0">
                <a:latin typeface="Times New Roman" panose="02020603050405020304" pitchFamily="18" charset="0"/>
                <a:cs typeface="Times New Roman" panose="02020603050405020304" pitchFamily="18" charset="0"/>
              </a:rPr>
              <a:t>else becomes </a:t>
            </a:r>
            <a:r>
              <a:rPr lang="en-IN" b="1" dirty="0">
                <a:latin typeface="Times New Roman" panose="02020603050405020304" pitchFamily="18" charset="0"/>
                <a:cs typeface="Times New Roman" panose="02020603050405020304" pitchFamily="18" charset="0"/>
              </a:rPr>
              <a:t>LOW.</a:t>
            </a:r>
          </a:p>
        </p:txBody>
      </p:sp>
    </p:spTree>
    <p:extLst>
      <p:ext uri="{BB962C8B-B14F-4D97-AF65-F5344CB8AC3E}">
        <p14:creationId xmlns:p14="http://schemas.microsoft.com/office/powerpoint/2010/main" val="3927470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F5F75-CFBD-5CE3-4756-4C4BA9587DC9}"/>
              </a:ext>
            </a:extLst>
          </p:cNvPr>
          <p:cNvSpPr>
            <a:spLocks noGrp="1"/>
          </p:cNvSpPr>
          <p:nvPr>
            <p:ph type="title"/>
          </p:nvPr>
        </p:nvSpPr>
        <p:spPr>
          <a:xfrm>
            <a:off x="599275" y="574388"/>
            <a:ext cx="9248110" cy="1320800"/>
          </a:xfrm>
        </p:spPr>
        <p:txBody>
          <a:bodyPr/>
          <a:lstStyle/>
          <a:p>
            <a:r>
              <a:rPr lang="en-US" dirty="0"/>
              <a:t>     </a:t>
            </a:r>
            <a:r>
              <a:rPr lang="en-US" dirty="0">
                <a:latin typeface="Times New Roman" panose="02020603050405020304" pitchFamily="18" charset="0"/>
                <a:cs typeface="Times New Roman" panose="02020603050405020304" pitchFamily="18" charset="0"/>
              </a:rPr>
              <a:t>MASTER- SLAVE COMMUNICATION</a:t>
            </a:r>
            <a:r>
              <a:rPr lang="en-US" dirty="0"/>
              <a:t>:</a:t>
            </a:r>
          </a:p>
        </p:txBody>
      </p:sp>
      <p:pic>
        <p:nvPicPr>
          <p:cNvPr id="1030" name="Picture 6">
            <a:extLst>
              <a:ext uri="{FF2B5EF4-FFF2-40B4-BE49-F238E27FC236}">
                <a16:creationId xmlns:a16="http://schemas.microsoft.com/office/drawing/2014/main" id="{CC6EB78A-DA04-4256-2DC4-A81F7A969B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3420" y="1493520"/>
            <a:ext cx="8052153" cy="4638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8715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82D50-7EF5-80E7-9C2F-00694F9E0071}"/>
              </a:ext>
            </a:extLst>
          </p:cNvPr>
          <p:cNvSpPr>
            <a:spLocks noGrp="1"/>
          </p:cNvSpPr>
          <p:nvPr>
            <p:ph type="title"/>
          </p:nvPr>
        </p:nvSpPr>
        <p:spPr>
          <a:xfrm>
            <a:off x="1591730" y="411196"/>
            <a:ext cx="6341535" cy="470692"/>
          </a:xfrm>
        </p:spPr>
        <p:txBody>
          <a:bodyPr>
            <a:noAutofit/>
          </a:bodyPr>
          <a:lstStyle/>
          <a:p>
            <a:r>
              <a:rPr lang="en-US" dirty="0">
                <a:latin typeface="Times New Roman" panose="02020603050405020304" pitchFamily="18" charset="0"/>
                <a:cs typeface="Times New Roman" panose="02020603050405020304" pitchFamily="18" charset="0"/>
              </a:rPr>
              <a:t>STATE MACHINE:</a:t>
            </a:r>
            <a:endParaRPr lang="en-IN" dirty="0">
              <a:latin typeface="Times New Roman" panose="02020603050405020304" pitchFamily="18" charset="0"/>
              <a:cs typeface="Times New Roman" panose="02020603050405020304" pitchFamily="18" charset="0"/>
            </a:endParaRPr>
          </a:p>
        </p:txBody>
      </p:sp>
      <p:sp>
        <p:nvSpPr>
          <p:cNvPr id="3" name="Oval 2">
            <a:extLst>
              <a:ext uri="{FF2B5EF4-FFF2-40B4-BE49-F238E27FC236}">
                <a16:creationId xmlns:a16="http://schemas.microsoft.com/office/drawing/2014/main" id="{7F5E1399-5062-DB20-36F3-A5CB8A34FE3B}"/>
              </a:ext>
            </a:extLst>
          </p:cNvPr>
          <p:cNvSpPr/>
          <p:nvPr/>
        </p:nvSpPr>
        <p:spPr>
          <a:xfrm>
            <a:off x="7933265" y="1315888"/>
            <a:ext cx="1149927" cy="95134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b="1" dirty="0">
                <a:latin typeface="Times New Roman" panose="02020603050405020304" pitchFamily="18" charset="0"/>
                <a:cs typeface="Times New Roman" panose="02020603050405020304" pitchFamily="18" charset="0"/>
              </a:rPr>
              <a:t>Idle</a:t>
            </a:r>
          </a:p>
          <a:p>
            <a:pPr algn="ctr"/>
            <a:r>
              <a:rPr lang="en-US" sz="1200" b="1" dirty="0">
                <a:latin typeface="Times New Roman" panose="02020603050405020304" pitchFamily="18" charset="0"/>
                <a:cs typeface="Times New Roman" panose="02020603050405020304" pitchFamily="18" charset="0"/>
              </a:rPr>
              <a:t>PSELx=0</a:t>
            </a:r>
          </a:p>
          <a:p>
            <a:pPr algn="ctr"/>
            <a:r>
              <a:rPr lang="en-US" sz="1200" b="1" dirty="0">
                <a:latin typeface="Times New Roman" panose="02020603050405020304" pitchFamily="18" charset="0"/>
                <a:cs typeface="Times New Roman" panose="02020603050405020304" pitchFamily="18" charset="0"/>
              </a:rPr>
              <a:t>PENABLE=0</a:t>
            </a:r>
            <a:endParaRPr lang="en-IN" sz="1200" b="1" dirty="0">
              <a:latin typeface="Times New Roman" panose="02020603050405020304" pitchFamily="18" charset="0"/>
              <a:cs typeface="Times New Roman" panose="02020603050405020304" pitchFamily="18" charset="0"/>
            </a:endParaRPr>
          </a:p>
        </p:txBody>
      </p:sp>
      <p:sp>
        <p:nvSpPr>
          <p:cNvPr id="4" name="Oval 3">
            <a:extLst>
              <a:ext uri="{FF2B5EF4-FFF2-40B4-BE49-F238E27FC236}">
                <a16:creationId xmlns:a16="http://schemas.microsoft.com/office/drawing/2014/main" id="{91D50DEC-B0DC-993A-746E-B68DDA15EE72}"/>
              </a:ext>
            </a:extLst>
          </p:cNvPr>
          <p:cNvSpPr/>
          <p:nvPr/>
        </p:nvSpPr>
        <p:spPr>
          <a:xfrm>
            <a:off x="7739302" y="2855477"/>
            <a:ext cx="1537855" cy="91439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b="1" dirty="0">
                <a:latin typeface="Times New Roman" panose="02020603050405020304" pitchFamily="18" charset="0"/>
                <a:cs typeface="Times New Roman" panose="02020603050405020304" pitchFamily="18" charset="0"/>
              </a:rPr>
              <a:t>SETUP</a:t>
            </a:r>
          </a:p>
          <a:p>
            <a:pPr algn="ctr"/>
            <a:r>
              <a:rPr lang="en-US" sz="1400" b="1" dirty="0">
                <a:latin typeface="Times New Roman" panose="02020603050405020304" pitchFamily="18" charset="0"/>
                <a:cs typeface="Times New Roman" panose="02020603050405020304" pitchFamily="18" charset="0"/>
              </a:rPr>
              <a:t>PSELx=1</a:t>
            </a:r>
          </a:p>
          <a:p>
            <a:pPr algn="ctr"/>
            <a:r>
              <a:rPr lang="en-US" sz="1400" b="1" dirty="0">
                <a:latin typeface="Times New Roman" panose="02020603050405020304" pitchFamily="18" charset="0"/>
                <a:cs typeface="Times New Roman" panose="02020603050405020304" pitchFamily="18" charset="0"/>
              </a:rPr>
              <a:t>PENABLE=0</a:t>
            </a:r>
            <a:endParaRPr lang="en-IN" sz="1400" b="1" dirty="0">
              <a:latin typeface="Times New Roman" panose="02020603050405020304" pitchFamily="18" charset="0"/>
              <a:cs typeface="Times New Roman" panose="02020603050405020304" pitchFamily="18" charset="0"/>
            </a:endParaRPr>
          </a:p>
        </p:txBody>
      </p:sp>
      <p:cxnSp>
        <p:nvCxnSpPr>
          <p:cNvPr id="6" name="Straight Arrow Connector 5">
            <a:extLst>
              <a:ext uri="{FF2B5EF4-FFF2-40B4-BE49-F238E27FC236}">
                <a16:creationId xmlns:a16="http://schemas.microsoft.com/office/drawing/2014/main" id="{280701D9-E52D-BBCD-BDD9-62A15DFDB5C8}"/>
              </a:ext>
            </a:extLst>
          </p:cNvPr>
          <p:cNvCxnSpPr>
            <a:cxnSpLocks/>
            <a:stCxn id="3" idx="4"/>
            <a:endCxn id="4" idx="0"/>
          </p:cNvCxnSpPr>
          <p:nvPr/>
        </p:nvCxnSpPr>
        <p:spPr>
          <a:xfrm>
            <a:off x="8508229" y="2267233"/>
            <a:ext cx="1" cy="5882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Oval 6">
            <a:extLst>
              <a:ext uri="{FF2B5EF4-FFF2-40B4-BE49-F238E27FC236}">
                <a16:creationId xmlns:a16="http://schemas.microsoft.com/office/drawing/2014/main" id="{E8BCAD95-B60A-EC79-B208-0B70D06E4431}"/>
              </a:ext>
            </a:extLst>
          </p:cNvPr>
          <p:cNvSpPr/>
          <p:nvPr/>
        </p:nvSpPr>
        <p:spPr>
          <a:xfrm>
            <a:off x="7739302" y="4362897"/>
            <a:ext cx="1537855" cy="868001"/>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b="1" dirty="0">
                <a:latin typeface="Times New Roman" panose="02020603050405020304" pitchFamily="18" charset="0"/>
                <a:cs typeface="Times New Roman" panose="02020603050405020304" pitchFamily="18" charset="0"/>
              </a:rPr>
              <a:t>ACCESS</a:t>
            </a:r>
          </a:p>
          <a:p>
            <a:pPr algn="ctr"/>
            <a:r>
              <a:rPr lang="en-US" sz="1400" b="1" dirty="0">
                <a:latin typeface="Times New Roman" panose="02020603050405020304" pitchFamily="18" charset="0"/>
                <a:cs typeface="Times New Roman" panose="02020603050405020304" pitchFamily="18" charset="0"/>
              </a:rPr>
              <a:t>PSELx=1</a:t>
            </a:r>
          </a:p>
          <a:p>
            <a:pPr algn="ctr"/>
            <a:r>
              <a:rPr lang="en-US" sz="1400" b="1" dirty="0">
                <a:latin typeface="Times New Roman" panose="02020603050405020304" pitchFamily="18" charset="0"/>
                <a:cs typeface="Times New Roman" panose="02020603050405020304" pitchFamily="18" charset="0"/>
              </a:rPr>
              <a:t>PENABLE=1</a:t>
            </a:r>
            <a:endParaRPr lang="en-IN" sz="1400" b="1" dirty="0">
              <a:latin typeface="Times New Roman" panose="02020603050405020304" pitchFamily="18"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198ED6A1-CD9C-977B-711D-97F97321D1E1}"/>
              </a:ext>
            </a:extLst>
          </p:cNvPr>
          <p:cNvCxnSpPr>
            <a:cxnSpLocks/>
            <a:stCxn id="4" idx="4"/>
            <a:endCxn id="7" idx="0"/>
          </p:cNvCxnSpPr>
          <p:nvPr/>
        </p:nvCxnSpPr>
        <p:spPr>
          <a:xfrm>
            <a:off x="8508230" y="3769873"/>
            <a:ext cx="0" cy="5930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1CD6CD56-507B-C005-5DE3-4578E427D30B}"/>
              </a:ext>
            </a:extLst>
          </p:cNvPr>
          <p:cNvSpPr txBox="1"/>
          <p:nvPr/>
        </p:nvSpPr>
        <p:spPr>
          <a:xfrm flipH="1">
            <a:off x="9024084" y="4170116"/>
            <a:ext cx="1690254"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PREADY=0</a:t>
            </a:r>
            <a:endParaRPr lang="en-IN" sz="1400"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2766CD7D-7B3F-5AB4-6ACB-8E5A5687B23E}"/>
              </a:ext>
            </a:extLst>
          </p:cNvPr>
          <p:cNvSpPr txBox="1"/>
          <p:nvPr/>
        </p:nvSpPr>
        <p:spPr>
          <a:xfrm>
            <a:off x="5890064" y="3141740"/>
            <a:ext cx="1776448" cy="523220"/>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PREADY=1</a:t>
            </a:r>
          </a:p>
          <a:p>
            <a:r>
              <a:rPr lang="en-US" sz="1400" dirty="0">
                <a:latin typeface="Times New Roman" panose="02020603050405020304" pitchFamily="18" charset="0"/>
                <a:cs typeface="Times New Roman" panose="02020603050405020304" pitchFamily="18" charset="0"/>
              </a:rPr>
              <a:t>When no data transfer</a:t>
            </a:r>
            <a:endParaRPr lang="en-IN" sz="1400" dirty="0">
              <a:latin typeface="Times New Roman" panose="02020603050405020304" pitchFamily="18" charset="0"/>
              <a:cs typeface="Times New Roman" panose="02020603050405020304" pitchFamily="18" charset="0"/>
            </a:endParaRPr>
          </a:p>
        </p:txBody>
      </p:sp>
      <p:cxnSp>
        <p:nvCxnSpPr>
          <p:cNvPr id="36" name="Straight Connector 35">
            <a:extLst>
              <a:ext uri="{FF2B5EF4-FFF2-40B4-BE49-F238E27FC236}">
                <a16:creationId xmlns:a16="http://schemas.microsoft.com/office/drawing/2014/main" id="{170E79D7-E6EC-92F4-5DAF-54ED833CC579}"/>
              </a:ext>
            </a:extLst>
          </p:cNvPr>
          <p:cNvCxnSpPr>
            <a:cxnSpLocks/>
            <a:stCxn id="7" idx="2"/>
            <a:endCxn id="34" idx="2"/>
          </p:cNvCxnSpPr>
          <p:nvPr/>
        </p:nvCxnSpPr>
        <p:spPr>
          <a:xfrm flipH="1" flipV="1">
            <a:off x="6778288" y="3664960"/>
            <a:ext cx="961014" cy="1131938"/>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6202272D-104E-7255-551B-466CFD996634}"/>
              </a:ext>
            </a:extLst>
          </p:cNvPr>
          <p:cNvCxnSpPr>
            <a:cxnSpLocks/>
            <a:stCxn id="34" idx="0"/>
            <a:endCxn id="3" idx="2"/>
          </p:cNvCxnSpPr>
          <p:nvPr/>
        </p:nvCxnSpPr>
        <p:spPr>
          <a:xfrm flipV="1">
            <a:off x="6778288" y="1791561"/>
            <a:ext cx="1154977" cy="13501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0CB59E15-E126-B2A2-FDA3-B24D6728B11A}"/>
              </a:ext>
            </a:extLst>
          </p:cNvPr>
          <p:cNvSpPr txBox="1"/>
          <p:nvPr/>
        </p:nvSpPr>
        <p:spPr>
          <a:xfrm>
            <a:off x="10078801" y="3492206"/>
            <a:ext cx="2355272" cy="523220"/>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PREADY=1</a:t>
            </a:r>
          </a:p>
          <a:p>
            <a:r>
              <a:rPr lang="en-IN" sz="1400" dirty="0">
                <a:latin typeface="Times New Roman" panose="02020603050405020304" pitchFamily="18" charset="0"/>
                <a:cs typeface="Times New Roman" panose="02020603050405020304" pitchFamily="18" charset="0"/>
              </a:rPr>
              <a:t>When data transfer</a:t>
            </a:r>
          </a:p>
        </p:txBody>
      </p:sp>
      <p:cxnSp>
        <p:nvCxnSpPr>
          <p:cNvPr id="51" name="Straight Arrow Connector 50">
            <a:extLst>
              <a:ext uri="{FF2B5EF4-FFF2-40B4-BE49-F238E27FC236}">
                <a16:creationId xmlns:a16="http://schemas.microsoft.com/office/drawing/2014/main" id="{76B17412-4C37-C5A5-7998-7A4B53C49071}"/>
              </a:ext>
            </a:extLst>
          </p:cNvPr>
          <p:cNvCxnSpPr>
            <a:cxnSpLocks/>
          </p:cNvCxnSpPr>
          <p:nvPr/>
        </p:nvCxnSpPr>
        <p:spPr>
          <a:xfrm flipH="1" flipV="1">
            <a:off x="9074118" y="3037051"/>
            <a:ext cx="2160698" cy="3662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2" name="Straight Arrow Connector 81">
            <a:extLst>
              <a:ext uri="{FF2B5EF4-FFF2-40B4-BE49-F238E27FC236}">
                <a16:creationId xmlns:a16="http://schemas.microsoft.com/office/drawing/2014/main" id="{D2FF6AD9-E763-B49E-DE6A-D66802BB489C}"/>
              </a:ext>
            </a:extLst>
          </p:cNvPr>
          <p:cNvCxnSpPr>
            <a:endCxn id="7" idx="6"/>
          </p:cNvCxnSpPr>
          <p:nvPr/>
        </p:nvCxnSpPr>
        <p:spPr>
          <a:xfrm flipH="1">
            <a:off x="9277157" y="4460636"/>
            <a:ext cx="570350" cy="3362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8" name="Freeform: Shape 87">
            <a:extLst>
              <a:ext uri="{FF2B5EF4-FFF2-40B4-BE49-F238E27FC236}">
                <a16:creationId xmlns:a16="http://schemas.microsoft.com/office/drawing/2014/main" id="{EC3E768C-E7AC-564F-39A0-5E06EB54E71B}"/>
              </a:ext>
            </a:extLst>
          </p:cNvPr>
          <p:cNvSpPr/>
          <p:nvPr/>
        </p:nvSpPr>
        <p:spPr>
          <a:xfrm>
            <a:off x="8799175" y="4041878"/>
            <a:ext cx="955963" cy="332509"/>
          </a:xfrm>
          <a:custGeom>
            <a:avLst/>
            <a:gdLst>
              <a:gd name="connsiteX0" fmla="*/ 955963 w 955963"/>
              <a:gd name="connsiteY0" fmla="*/ 207818 h 332509"/>
              <a:gd name="connsiteX1" fmla="*/ 831273 w 955963"/>
              <a:gd name="connsiteY1" fmla="*/ 55418 h 332509"/>
              <a:gd name="connsiteX2" fmla="*/ 720436 w 955963"/>
              <a:gd name="connsiteY2" fmla="*/ 0 h 332509"/>
              <a:gd name="connsiteX3" fmla="*/ 235527 w 955963"/>
              <a:gd name="connsiteY3" fmla="*/ 13854 h 332509"/>
              <a:gd name="connsiteX4" fmla="*/ 96982 w 955963"/>
              <a:gd name="connsiteY4" fmla="*/ 110836 h 332509"/>
              <a:gd name="connsiteX5" fmla="*/ 55418 w 955963"/>
              <a:gd name="connsiteY5" fmla="*/ 166254 h 332509"/>
              <a:gd name="connsiteX6" fmla="*/ 13854 w 955963"/>
              <a:gd name="connsiteY6" fmla="*/ 277090 h 332509"/>
              <a:gd name="connsiteX7" fmla="*/ 0 w 955963"/>
              <a:gd name="connsiteY7" fmla="*/ 332509 h 332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5963" h="332509">
                <a:moveTo>
                  <a:pt x="955963" y="207818"/>
                </a:moveTo>
                <a:cubicBezTo>
                  <a:pt x="914400" y="157018"/>
                  <a:pt x="889980" y="84771"/>
                  <a:pt x="831273" y="55418"/>
                </a:cubicBezTo>
                <a:lnTo>
                  <a:pt x="720436" y="0"/>
                </a:lnTo>
                <a:cubicBezTo>
                  <a:pt x="558800" y="4618"/>
                  <a:pt x="396040" y="-5721"/>
                  <a:pt x="235527" y="13854"/>
                </a:cubicBezTo>
                <a:cubicBezTo>
                  <a:pt x="230371" y="14483"/>
                  <a:pt x="111657" y="96161"/>
                  <a:pt x="96982" y="110836"/>
                </a:cubicBezTo>
                <a:cubicBezTo>
                  <a:pt x="80654" y="127164"/>
                  <a:pt x="69273" y="147781"/>
                  <a:pt x="55418" y="166254"/>
                </a:cubicBezTo>
                <a:cubicBezTo>
                  <a:pt x="19851" y="308516"/>
                  <a:pt x="68195" y="132178"/>
                  <a:pt x="13854" y="277090"/>
                </a:cubicBezTo>
                <a:cubicBezTo>
                  <a:pt x="7168" y="294919"/>
                  <a:pt x="0" y="332509"/>
                  <a:pt x="0" y="332509"/>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cxnSp>
        <p:nvCxnSpPr>
          <p:cNvPr id="90" name="Straight Connector 89">
            <a:extLst>
              <a:ext uri="{FF2B5EF4-FFF2-40B4-BE49-F238E27FC236}">
                <a16:creationId xmlns:a16="http://schemas.microsoft.com/office/drawing/2014/main" id="{5495E1B6-B137-EFD3-D737-0BDA55EC58CD}"/>
              </a:ext>
            </a:extLst>
          </p:cNvPr>
          <p:cNvCxnSpPr>
            <a:stCxn id="7" idx="5"/>
            <a:endCxn id="40" idx="2"/>
          </p:cNvCxnSpPr>
          <p:nvPr/>
        </p:nvCxnSpPr>
        <p:spPr>
          <a:xfrm flipV="1">
            <a:off x="9051943" y="4015426"/>
            <a:ext cx="2204494" cy="1088356"/>
          </a:xfrm>
          <a:prstGeom prst="line">
            <a:avLst/>
          </a:prstGeom>
        </p:spPr>
        <p:style>
          <a:lnRef idx="1">
            <a:schemeClr val="dk1"/>
          </a:lnRef>
          <a:fillRef idx="0">
            <a:schemeClr val="dk1"/>
          </a:fillRef>
          <a:effectRef idx="0">
            <a:schemeClr val="dk1"/>
          </a:effectRef>
          <a:fontRef idx="minor">
            <a:schemeClr val="tx1"/>
          </a:fontRef>
        </p:style>
      </p:cxnSp>
      <p:sp>
        <p:nvSpPr>
          <p:cNvPr id="105" name="TextBox 104">
            <a:extLst>
              <a:ext uri="{FF2B5EF4-FFF2-40B4-BE49-F238E27FC236}">
                <a16:creationId xmlns:a16="http://schemas.microsoft.com/office/drawing/2014/main" id="{DE2F3BB1-746F-1AF7-4838-975B746BF752}"/>
              </a:ext>
            </a:extLst>
          </p:cNvPr>
          <p:cNvSpPr txBox="1"/>
          <p:nvPr/>
        </p:nvSpPr>
        <p:spPr>
          <a:xfrm>
            <a:off x="1684867" y="1321315"/>
            <a:ext cx="6102926" cy="6278642"/>
          </a:xfrm>
          <a:prstGeom prst="rect">
            <a:avLst/>
          </a:prstGeom>
          <a:noFill/>
        </p:spPr>
        <p:txBody>
          <a:bodyPr wrap="square">
            <a:spAutoFit/>
          </a:bodyPr>
          <a:lstStyle/>
          <a:p>
            <a:pPr marL="285750" indent="-285750">
              <a:buFont typeface="Arial" panose="020B0604020202020204" pitchFamily="34" charset="0"/>
              <a:buChar char="•"/>
            </a:pPr>
            <a:r>
              <a:rPr lang="en-US" dirty="0"/>
              <a:t>IDLE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Default APB State</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SETUP</a:t>
            </a: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When Transfer required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PSELx=1 asserted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Only one cycle</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ACCESS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PENABLE is asserted, where </a:t>
            </a:r>
          </a:p>
          <a:p>
            <a:r>
              <a:rPr lang="en-US" dirty="0">
                <a:latin typeface="Times New Roman" panose="02020603050405020304" pitchFamily="18" charset="0"/>
                <a:cs typeface="Times New Roman" panose="02020603050405020304" pitchFamily="18" charset="0"/>
              </a:rPr>
              <a:t>Address, write, select, and write data</a:t>
            </a:r>
          </a:p>
          <a:p>
            <a:r>
              <a:rPr lang="en-US" dirty="0">
                <a:latin typeface="Times New Roman" panose="02020603050405020304" pitchFamily="18" charset="0"/>
                <a:cs typeface="Times New Roman" panose="02020603050405020304" pitchFamily="18" charset="0"/>
              </a:rPr>
              <a:t>remain same.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Stay if  PREADY=0,</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Else go to IDLE if PREADY=1</a:t>
            </a:r>
          </a:p>
          <a:p>
            <a:r>
              <a:rPr lang="en-US" dirty="0">
                <a:latin typeface="Times New Roman" panose="02020603050405020304" pitchFamily="18" charset="0"/>
                <a:cs typeface="Times New Roman" panose="02020603050405020304" pitchFamily="18" charset="0"/>
              </a:rPr>
              <a:t> No data transfer.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go to SETUP is PREADY=1, when more</a:t>
            </a:r>
          </a:p>
          <a:p>
            <a:r>
              <a:rPr lang="en-US" dirty="0">
                <a:latin typeface="Times New Roman" panose="02020603050405020304" pitchFamily="18" charset="0"/>
                <a:cs typeface="Times New Roman" panose="02020603050405020304" pitchFamily="18" charset="0"/>
              </a:rPr>
              <a:t>  data pending. </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p:txBody>
      </p:sp>
      <p:sp>
        <p:nvSpPr>
          <p:cNvPr id="106" name="TextBox 105">
            <a:extLst>
              <a:ext uri="{FF2B5EF4-FFF2-40B4-BE49-F238E27FC236}">
                <a16:creationId xmlns:a16="http://schemas.microsoft.com/office/drawing/2014/main" id="{DCCB549C-FB2E-CB03-DB35-2A8F6721CBCE}"/>
              </a:ext>
            </a:extLst>
          </p:cNvPr>
          <p:cNvSpPr txBox="1"/>
          <p:nvPr/>
        </p:nvSpPr>
        <p:spPr>
          <a:xfrm>
            <a:off x="8551333" y="2374299"/>
            <a:ext cx="1537854" cy="369332"/>
          </a:xfrm>
          <a:prstGeom prst="rect">
            <a:avLst/>
          </a:prstGeom>
          <a:noFill/>
        </p:spPr>
        <p:txBody>
          <a:bodyPr wrap="square" rtlCol="0">
            <a:spAutoFit/>
          </a:bodyPr>
          <a:lstStyle/>
          <a:p>
            <a:r>
              <a:rPr lang="en-US" dirty="0"/>
              <a:t>transfer</a:t>
            </a:r>
            <a:endParaRPr lang="en-IN" dirty="0"/>
          </a:p>
        </p:txBody>
      </p:sp>
      <p:sp>
        <p:nvSpPr>
          <p:cNvPr id="107" name="TextBox 106">
            <a:extLst>
              <a:ext uri="{FF2B5EF4-FFF2-40B4-BE49-F238E27FC236}">
                <a16:creationId xmlns:a16="http://schemas.microsoft.com/office/drawing/2014/main" id="{D5968932-89CD-AF5A-0520-EF378C77A573}"/>
              </a:ext>
            </a:extLst>
          </p:cNvPr>
          <p:cNvSpPr txBox="1"/>
          <p:nvPr/>
        </p:nvSpPr>
        <p:spPr>
          <a:xfrm>
            <a:off x="9277157" y="1315888"/>
            <a:ext cx="2160698" cy="369332"/>
          </a:xfrm>
          <a:prstGeom prst="rect">
            <a:avLst/>
          </a:prstGeom>
          <a:noFill/>
        </p:spPr>
        <p:txBody>
          <a:bodyPr wrap="square" rtlCol="0">
            <a:spAutoFit/>
          </a:bodyPr>
          <a:lstStyle/>
          <a:p>
            <a:r>
              <a:rPr lang="en-US" dirty="0"/>
              <a:t>No transfer</a:t>
            </a:r>
            <a:endParaRPr lang="en-IN" dirty="0"/>
          </a:p>
        </p:txBody>
      </p:sp>
      <p:sp>
        <p:nvSpPr>
          <p:cNvPr id="109" name="Freeform: Shape 108">
            <a:extLst>
              <a:ext uri="{FF2B5EF4-FFF2-40B4-BE49-F238E27FC236}">
                <a16:creationId xmlns:a16="http://schemas.microsoft.com/office/drawing/2014/main" id="{3F5BBD4E-1774-0830-A156-7C816F4DD7D6}"/>
              </a:ext>
            </a:extLst>
          </p:cNvPr>
          <p:cNvSpPr/>
          <p:nvPr/>
        </p:nvSpPr>
        <p:spPr>
          <a:xfrm>
            <a:off x="8839196" y="1103648"/>
            <a:ext cx="942109" cy="318930"/>
          </a:xfrm>
          <a:custGeom>
            <a:avLst/>
            <a:gdLst>
              <a:gd name="connsiteX0" fmla="*/ 942109 w 942109"/>
              <a:gd name="connsiteY0" fmla="*/ 305075 h 318930"/>
              <a:gd name="connsiteX1" fmla="*/ 900545 w 942109"/>
              <a:gd name="connsiteY1" fmla="*/ 235803 h 318930"/>
              <a:gd name="connsiteX2" fmla="*/ 858982 w 942109"/>
              <a:gd name="connsiteY2" fmla="*/ 180384 h 318930"/>
              <a:gd name="connsiteX3" fmla="*/ 831273 w 942109"/>
              <a:gd name="connsiteY3" fmla="*/ 124966 h 318930"/>
              <a:gd name="connsiteX4" fmla="*/ 817418 w 942109"/>
              <a:gd name="connsiteY4" fmla="*/ 69548 h 318930"/>
              <a:gd name="connsiteX5" fmla="*/ 762000 w 942109"/>
              <a:gd name="connsiteY5" fmla="*/ 41839 h 318930"/>
              <a:gd name="connsiteX6" fmla="*/ 526473 w 942109"/>
              <a:gd name="connsiteY6" fmla="*/ 275 h 318930"/>
              <a:gd name="connsiteX7" fmla="*/ 152400 w 942109"/>
              <a:gd name="connsiteY7" fmla="*/ 41839 h 318930"/>
              <a:gd name="connsiteX8" fmla="*/ 110836 w 942109"/>
              <a:gd name="connsiteY8" fmla="*/ 69548 h 318930"/>
              <a:gd name="connsiteX9" fmla="*/ 27709 w 942109"/>
              <a:gd name="connsiteY9" fmla="*/ 208093 h 318930"/>
              <a:gd name="connsiteX10" fmla="*/ 0 w 942109"/>
              <a:gd name="connsiteY10" fmla="*/ 318930 h 318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2109" h="318930">
                <a:moveTo>
                  <a:pt x="942109" y="305075"/>
                </a:moveTo>
                <a:cubicBezTo>
                  <a:pt x="928254" y="281984"/>
                  <a:pt x="915482" y="258209"/>
                  <a:pt x="900545" y="235803"/>
                </a:cubicBezTo>
                <a:cubicBezTo>
                  <a:pt x="887736" y="216590"/>
                  <a:pt x="871220" y="199965"/>
                  <a:pt x="858982" y="180384"/>
                </a:cubicBezTo>
                <a:cubicBezTo>
                  <a:pt x="848036" y="162870"/>
                  <a:pt x="838525" y="144304"/>
                  <a:pt x="831273" y="124966"/>
                </a:cubicBezTo>
                <a:cubicBezTo>
                  <a:pt x="824587" y="107137"/>
                  <a:pt x="829608" y="84176"/>
                  <a:pt x="817418" y="69548"/>
                </a:cubicBezTo>
                <a:cubicBezTo>
                  <a:pt x="804196" y="53682"/>
                  <a:pt x="781858" y="47513"/>
                  <a:pt x="762000" y="41839"/>
                </a:cubicBezTo>
                <a:cubicBezTo>
                  <a:pt x="693777" y="22347"/>
                  <a:pt x="599115" y="10653"/>
                  <a:pt x="526473" y="275"/>
                </a:cubicBezTo>
                <a:cubicBezTo>
                  <a:pt x="344111" y="8564"/>
                  <a:pt x="280089" y="-22005"/>
                  <a:pt x="152400" y="41839"/>
                </a:cubicBezTo>
                <a:cubicBezTo>
                  <a:pt x="137507" y="49286"/>
                  <a:pt x="124691" y="60312"/>
                  <a:pt x="110836" y="69548"/>
                </a:cubicBezTo>
                <a:cubicBezTo>
                  <a:pt x="71441" y="128640"/>
                  <a:pt x="53269" y="148452"/>
                  <a:pt x="27709" y="208093"/>
                </a:cubicBezTo>
                <a:cubicBezTo>
                  <a:pt x="11735" y="245366"/>
                  <a:pt x="8131" y="278277"/>
                  <a:pt x="0" y="318930"/>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cxnSp>
        <p:nvCxnSpPr>
          <p:cNvPr id="111" name="Straight Arrow Connector 110">
            <a:extLst>
              <a:ext uri="{FF2B5EF4-FFF2-40B4-BE49-F238E27FC236}">
                <a16:creationId xmlns:a16="http://schemas.microsoft.com/office/drawing/2014/main" id="{01DAA4E5-2ED2-E8E1-74A2-B7ABED355E12}"/>
              </a:ext>
            </a:extLst>
          </p:cNvPr>
          <p:cNvCxnSpPr/>
          <p:nvPr/>
        </p:nvCxnSpPr>
        <p:spPr>
          <a:xfrm flipH="1">
            <a:off x="9083192" y="1685220"/>
            <a:ext cx="864368" cy="2222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2" name="TextBox 111">
            <a:extLst>
              <a:ext uri="{FF2B5EF4-FFF2-40B4-BE49-F238E27FC236}">
                <a16:creationId xmlns:a16="http://schemas.microsoft.com/office/drawing/2014/main" id="{5CF8D9B3-66DB-E47C-DDC8-4B831CC749B9}"/>
              </a:ext>
            </a:extLst>
          </p:cNvPr>
          <p:cNvSpPr txBox="1"/>
          <p:nvPr/>
        </p:nvSpPr>
        <p:spPr>
          <a:xfrm>
            <a:off x="7514087" y="3856410"/>
            <a:ext cx="1537854" cy="369332"/>
          </a:xfrm>
          <a:prstGeom prst="rect">
            <a:avLst/>
          </a:prstGeom>
          <a:noFill/>
        </p:spPr>
        <p:txBody>
          <a:bodyPr wrap="square" rtlCol="0">
            <a:spAutoFit/>
          </a:bodyPr>
          <a:lstStyle/>
          <a:p>
            <a:r>
              <a:rPr lang="en-US" dirty="0"/>
              <a:t>transfer</a:t>
            </a:r>
            <a:endParaRPr lang="en-IN" dirty="0"/>
          </a:p>
        </p:txBody>
      </p:sp>
    </p:spTree>
    <p:extLst>
      <p:ext uri="{BB962C8B-B14F-4D97-AF65-F5344CB8AC3E}">
        <p14:creationId xmlns:p14="http://schemas.microsoft.com/office/powerpoint/2010/main" val="2291208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4FF45-6AE4-FB36-B168-12DEF7E6D2B3}"/>
              </a:ext>
            </a:extLst>
          </p:cNvPr>
          <p:cNvSpPr>
            <a:spLocks noGrp="1"/>
          </p:cNvSpPr>
          <p:nvPr>
            <p:ph type="title"/>
          </p:nvPr>
        </p:nvSpPr>
        <p:spPr>
          <a:xfrm>
            <a:off x="338667" y="180109"/>
            <a:ext cx="11514666" cy="6497782"/>
          </a:xfrm>
        </p:spPr>
        <p:txBody>
          <a:bodyPr/>
          <a:lstStyle/>
          <a:p>
            <a:r>
              <a:rPr lang="en-US" dirty="0"/>
              <a:t>WRITE TRANSFERS:</a:t>
            </a:r>
            <a:br>
              <a:rPr lang="en-US" dirty="0"/>
            </a:br>
            <a:br>
              <a:rPr lang="en-US" dirty="0"/>
            </a:br>
            <a:r>
              <a:rPr lang="en-US" sz="2000" dirty="0">
                <a:solidFill>
                  <a:schemeClr val="tx1"/>
                </a:solidFill>
                <a:latin typeface="Times New Roman" panose="02020603050405020304" pitchFamily="18" charset="0"/>
                <a:cs typeface="Times New Roman" panose="02020603050405020304" pitchFamily="18" charset="0"/>
              </a:rPr>
              <a:t>This section describes the following types of write transfer:</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			 • With no wait states</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			 • With wait states</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 All signals shown in this section are sampled at the rising edge of PCLK.</a:t>
            </a:r>
            <a:br>
              <a:rPr lang="en-US" sz="2000" dirty="0">
                <a:solidFill>
                  <a:schemeClr val="tx1"/>
                </a:solidFill>
                <a:latin typeface="Times New Roman" panose="02020603050405020304" pitchFamily="18" charset="0"/>
                <a:cs typeface="Times New Roman" panose="02020603050405020304" pitchFamily="18" charset="0"/>
              </a:rPr>
            </a:br>
            <a:br>
              <a:rPr lang="en-US" sz="2000" dirty="0">
                <a:solidFill>
                  <a:schemeClr val="tx1"/>
                </a:solidFill>
                <a:latin typeface="Times New Roman" panose="02020603050405020304" pitchFamily="18" charset="0"/>
                <a:cs typeface="Times New Roman" panose="02020603050405020304" pitchFamily="18" charset="0"/>
              </a:rPr>
            </a:br>
            <a:r>
              <a:rPr lang="en-IN" sz="2800" b="1" dirty="0">
                <a:solidFill>
                  <a:schemeClr val="tx1"/>
                </a:solidFill>
                <a:latin typeface="Times New Roman" panose="02020603050405020304" pitchFamily="18" charset="0"/>
                <a:cs typeface="Times New Roman" panose="02020603050405020304" pitchFamily="18" charset="0"/>
              </a:rPr>
              <a:t>With no wait states:</a:t>
            </a:r>
            <a:br>
              <a:rPr lang="en-IN" sz="2800" b="1" dirty="0">
                <a:solidFill>
                  <a:schemeClr val="tx1"/>
                </a:solidFill>
                <a:latin typeface="Times New Roman" panose="02020603050405020304" pitchFamily="18" charset="0"/>
                <a:cs typeface="Times New Roman" panose="02020603050405020304" pitchFamily="18" charset="0"/>
              </a:rPr>
            </a:br>
            <a:r>
              <a:rPr lang="en-IN" sz="2000" b="1" dirty="0">
                <a:solidFill>
                  <a:schemeClr val="tx1"/>
                </a:solidFill>
                <a:latin typeface="Times New Roman" panose="02020603050405020304" pitchFamily="18" charset="0"/>
                <a:cs typeface="Times New Roman" panose="02020603050405020304" pitchFamily="18" charset="0"/>
              </a:rPr>
              <a:t> </a:t>
            </a:r>
            <a:br>
              <a:rPr lang="en-IN" sz="2000" b="1"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The Setup phase of the write transfer occurs at T1 in Figure. </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The select signal, </a:t>
            </a:r>
            <a:r>
              <a:rPr lang="en-US" sz="2000" b="1" dirty="0">
                <a:solidFill>
                  <a:schemeClr val="tx1"/>
                </a:solidFill>
                <a:latin typeface="Times New Roman" panose="02020603050405020304" pitchFamily="18" charset="0"/>
                <a:cs typeface="Times New Roman" panose="02020603050405020304" pitchFamily="18" charset="0"/>
              </a:rPr>
              <a:t>PSELx</a:t>
            </a:r>
            <a:r>
              <a:rPr lang="en-US" sz="2000" dirty="0">
                <a:solidFill>
                  <a:schemeClr val="tx1"/>
                </a:solidFill>
                <a:latin typeface="Times New Roman" panose="02020603050405020304" pitchFamily="18" charset="0"/>
                <a:cs typeface="Times New Roman" panose="02020603050405020304" pitchFamily="18" charset="0"/>
              </a:rPr>
              <a:t>, is asserted, which means that </a:t>
            </a:r>
            <a:r>
              <a:rPr lang="en-US" sz="2000" b="1" dirty="0">
                <a:solidFill>
                  <a:schemeClr val="tx1"/>
                </a:solidFill>
                <a:latin typeface="Times New Roman" panose="02020603050405020304" pitchFamily="18" charset="0"/>
                <a:cs typeface="Times New Roman" panose="02020603050405020304" pitchFamily="18" charset="0"/>
              </a:rPr>
              <a:t>PADDR, PWRITE </a:t>
            </a:r>
            <a:r>
              <a:rPr lang="en-US" sz="2000" dirty="0">
                <a:solidFill>
                  <a:schemeClr val="tx1"/>
                </a:solidFill>
                <a:latin typeface="Times New Roman" panose="02020603050405020304" pitchFamily="18" charset="0"/>
                <a:cs typeface="Times New Roman" panose="02020603050405020304" pitchFamily="18" charset="0"/>
              </a:rPr>
              <a:t>and </a:t>
            </a:r>
            <a:r>
              <a:rPr lang="en-US" sz="2000" b="1" dirty="0">
                <a:solidFill>
                  <a:schemeClr val="tx1"/>
                </a:solidFill>
                <a:latin typeface="Times New Roman" panose="02020603050405020304" pitchFamily="18" charset="0"/>
                <a:cs typeface="Times New Roman" panose="02020603050405020304" pitchFamily="18" charset="0"/>
              </a:rPr>
              <a:t>PWDATA </a:t>
            </a:r>
            <a:r>
              <a:rPr lang="en-US" sz="2000" dirty="0">
                <a:solidFill>
                  <a:schemeClr val="tx1"/>
                </a:solidFill>
                <a:latin typeface="Times New Roman" panose="02020603050405020304" pitchFamily="18" charset="0"/>
                <a:cs typeface="Times New Roman" panose="02020603050405020304" pitchFamily="18" charset="0"/>
              </a:rPr>
              <a:t>must be valid. </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The Access phase of the write transfer is shown at T2 in Figure. where</a:t>
            </a:r>
            <a:r>
              <a:rPr lang="en-US" sz="2000" b="1" dirty="0">
                <a:solidFill>
                  <a:schemeClr val="tx1"/>
                </a:solidFill>
                <a:latin typeface="Times New Roman" panose="02020603050405020304" pitchFamily="18" charset="0"/>
                <a:cs typeface="Times New Roman" panose="02020603050405020304" pitchFamily="18" charset="0"/>
              </a:rPr>
              <a:t> PENABLE </a:t>
            </a:r>
            <a:r>
              <a:rPr lang="en-US" sz="2000" dirty="0">
                <a:solidFill>
                  <a:schemeClr val="tx1"/>
                </a:solidFill>
                <a:latin typeface="Times New Roman" panose="02020603050405020304" pitchFamily="18" charset="0"/>
                <a:cs typeface="Times New Roman" panose="02020603050405020304" pitchFamily="18" charset="0"/>
              </a:rPr>
              <a:t>is asserted. </a:t>
            </a:r>
            <a:br>
              <a:rPr lang="en-US" sz="2000" dirty="0">
                <a:solidFill>
                  <a:schemeClr val="tx1"/>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PREADY</a:t>
            </a:r>
            <a:r>
              <a:rPr lang="en-US" sz="2000" dirty="0">
                <a:solidFill>
                  <a:schemeClr val="tx1"/>
                </a:solidFill>
                <a:latin typeface="Times New Roman" panose="02020603050405020304" pitchFamily="18" charset="0"/>
                <a:cs typeface="Times New Roman" panose="02020603050405020304" pitchFamily="18" charset="0"/>
              </a:rPr>
              <a:t> is asserted by the Completer at the rising edge of </a:t>
            </a:r>
            <a:r>
              <a:rPr lang="en-US" sz="2000" b="1" dirty="0">
                <a:solidFill>
                  <a:schemeClr val="tx1"/>
                </a:solidFill>
                <a:latin typeface="Times New Roman" panose="02020603050405020304" pitchFamily="18" charset="0"/>
                <a:cs typeface="Times New Roman" panose="02020603050405020304" pitchFamily="18" charset="0"/>
              </a:rPr>
              <a:t>PCLK</a:t>
            </a:r>
            <a:r>
              <a:rPr lang="en-US" sz="2000" dirty="0">
                <a:solidFill>
                  <a:schemeClr val="tx1"/>
                </a:solidFill>
                <a:latin typeface="Times New Roman" panose="02020603050405020304" pitchFamily="18" charset="0"/>
                <a:cs typeface="Times New Roman" panose="02020603050405020304" pitchFamily="18" charset="0"/>
              </a:rPr>
              <a:t> to indicate that the write data will be accepted at T3. </a:t>
            </a:r>
            <a:r>
              <a:rPr lang="en-US" sz="2000" b="1" dirty="0">
                <a:solidFill>
                  <a:schemeClr val="tx1"/>
                </a:solidFill>
                <a:latin typeface="Times New Roman" panose="02020603050405020304" pitchFamily="18" charset="0"/>
                <a:cs typeface="Times New Roman" panose="02020603050405020304" pitchFamily="18" charset="0"/>
              </a:rPr>
              <a:t>PADDR, PWDATA, </a:t>
            </a:r>
            <a:r>
              <a:rPr lang="en-US" sz="2000" dirty="0">
                <a:solidFill>
                  <a:schemeClr val="tx1"/>
                </a:solidFill>
                <a:latin typeface="Times New Roman" panose="02020603050405020304" pitchFamily="18" charset="0"/>
                <a:cs typeface="Times New Roman" panose="02020603050405020304" pitchFamily="18" charset="0"/>
              </a:rPr>
              <a:t>and any other control signals, must be stable until the transfer completes. At the end of the transfer, </a:t>
            </a:r>
            <a:r>
              <a:rPr lang="en-US" sz="2000" b="1" dirty="0">
                <a:solidFill>
                  <a:schemeClr val="tx1"/>
                </a:solidFill>
                <a:latin typeface="Times New Roman" panose="02020603050405020304" pitchFamily="18" charset="0"/>
                <a:cs typeface="Times New Roman" panose="02020603050405020304" pitchFamily="18" charset="0"/>
              </a:rPr>
              <a:t>PENABLE</a:t>
            </a:r>
            <a:r>
              <a:rPr lang="en-US" sz="2000" dirty="0">
                <a:solidFill>
                  <a:schemeClr val="tx1"/>
                </a:solidFill>
                <a:latin typeface="Times New Roman" panose="02020603050405020304" pitchFamily="18" charset="0"/>
                <a:cs typeface="Times New Roman" panose="02020603050405020304" pitchFamily="18" charset="0"/>
              </a:rPr>
              <a:t> is deasserted.</a:t>
            </a:r>
            <a:r>
              <a:rPr lang="en-US" sz="2000" b="1" dirty="0">
                <a:solidFill>
                  <a:schemeClr val="tx1"/>
                </a:solidFill>
                <a:latin typeface="Times New Roman" panose="02020603050405020304" pitchFamily="18" charset="0"/>
                <a:cs typeface="Times New Roman" panose="02020603050405020304" pitchFamily="18" charset="0"/>
              </a:rPr>
              <a:t> PSELx </a:t>
            </a:r>
            <a:r>
              <a:rPr lang="en-US" sz="2000" dirty="0">
                <a:solidFill>
                  <a:schemeClr val="tx1"/>
                </a:solidFill>
                <a:latin typeface="Times New Roman" panose="02020603050405020304" pitchFamily="18" charset="0"/>
                <a:cs typeface="Times New Roman" panose="02020603050405020304" pitchFamily="18" charset="0"/>
              </a:rPr>
              <a:t>is also deasserted, unless there is another transfer to the </a:t>
            </a:r>
            <a:r>
              <a:rPr lang="en-US" sz="2000">
                <a:solidFill>
                  <a:schemeClr val="tx1"/>
                </a:solidFill>
                <a:latin typeface="Times New Roman" panose="02020603050405020304" pitchFamily="18" charset="0"/>
                <a:cs typeface="Times New Roman" panose="02020603050405020304" pitchFamily="18" charset="0"/>
              </a:rPr>
              <a:t>same peripheral.</a:t>
            </a:r>
            <a:br>
              <a:rPr lang="en-US" sz="2000" dirty="0">
                <a:solidFill>
                  <a:schemeClr val="tx1"/>
                </a:solidFill>
                <a:latin typeface="Times New Roman" panose="02020603050405020304" pitchFamily="18" charset="0"/>
                <a:cs typeface="Times New Roman" panose="02020603050405020304" pitchFamily="18" charset="0"/>
              </a:rPr>
            </a:b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9415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2C0CFF-F443-0424-CA74-C64098055374}"/>
              </a:ext>
            </a:extLst>
          </p:cNvPr>
          <p:cNvPicPr>
            <a:picLocks noChangeAspect="1"/>
          </p:cNvPicPr>
          <p:nvPr/>
        </p:nvPicPr>
        <p:blipFill>
          <a:blip r:embed="rId2"/>
          <a:stretch>
            <a:fillRect/>
          </a:stretch>
        </p:blipFill>
        <p:spPr>
          <a:xfrm>
            <a:off x="1551710" y="1184564"/>
            <a:ext cx="7232073" cy="2860963"/>
          </a:xfrm>
          <a:prstGeom prst="rect">
            <a:avLst/>
          </a:prstGeom>
        </p:spPr>
      </p:pic>
      <p:sp>
        <p:nvSpPr>
          <p:cNvPr id="3" name="TextBox 2">
            <a:extLst>
              <a:ext uri="{FF2B5EF4-FFF2-40B4-BE49-F238E27FC236}">
                <a16:creationId xmlns:a16="http://schemas.microsoft.com/office/drawing/2014/main" id="{FBEA5A40-0403-FCCD-4147-A5CBC2263C4A}"/>
              </a:ext>
            </a:extLst>
          </p:cNvPr>
          <p:cNvSpPr txBox="1"/>
          <p:nvPr/>
        </p:nvSpPr>
        <p:spPr>
          <a:xfrm>
            <a:off x="3768436" y="4197928"/>
            <a:ext cx="5015347"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Write transfer no waits states.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5133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2AF98-2087-DD37-8837-5253B33E49B9}"/>
              </a:ext>
            </a:extLst>
          </p:cNvPr>
          <p:cNvSpPr>
            <a:spLocks noGrp="1"/>
          </p:cNvSpPr>
          <p:nvPr>
            <p:ph type="title"/>
          </p:nvPr>
        </p:nvSpPr>
        <p:spPr>
          <a:xfrm>
            <a:off x="677334" y="609599"/>
            <a:ext cx="10447866" cy="5805055"/>
          </a:xfrm>
        </p:spPr>
        <p:txBody>
          <a:bodyPr>
            <a:normAutofit/>
          </a:bodyPr>
          <a:lstStyle/>
          <a:p>
            <a:r>
              <a:rPr lang="en-US" dirty="0"/>
              <a:t>With wait state:</a:t>
            </a:r>
            <a:br>
              <a:rPr lang="en-US" dirty="0"/>
            </a:br>
            <a:br>
              <a:rPr lang="en-US" dirty="0"/>
            </a:br>
            <a:r>
              <a:rPr lang="en-US" sz="2000" dirty="0">
                <a:solidFill>
                  <a:schemeClr val="tx1"/>
                </a:solidFill>
                <a:latin typeface="Times New Roman" panose="02020603050405020304" pitchFamily="18" charset="0"/>
                <a:cs typeface="Times New Roman" panose="02020603050405020304" pitchFamily="18" charset="0"/>
              </a:rPr>
              <a:t>During an Access phase, when </a:t>
            </a:r>
            <a:r>
              <a:rPr lang="en-US" sz="2000" b="1" dirty="0">
                <a:solidFill>
                  <a:schemeClr val="tx1"/>
                </a:solidFill>
                <a:latin typeface="Times New Roman" panose="02020603050405020304" pitchFamily="18" charset="0"/>
                <a:cs typeface="Times New Roman" panose="02020603050405020304" pitchFamily="18" charset="0"/>
              </a:rPr>
              <a:t>PENABLE</a:t>
            </a:r>
            <a:r>
              <a:rPr lang="en-US" sz="2000" dirty="0">
                <a:solidFill>
                  <a:schemeClr val="tx1"/>
                </a:solidFill>
                <a:latin typeface="Times New Roman" panose="02020603050405020304" pitchFamily="18" charset="0"/>
                <a:cs typeface="Times New Roman" panose="02020603050405020304" pitchFamily="18" charset="0"/>
              </a:rPr>
              <a:t> is </a:t>
            </a:r>
            <a:r>
              <a:rPr lang="en-US" sz="2000" b="1" dirty="0">
                <a:solidFill>
                  <a:schemeClr val="tx1"/>
                </a:solidFill>
                <a:latin typeface="Times New Roman" panose="02020603050405020304" pitchFamily="18" charset="0"/>
                <a:cs typeface="Times New Roman" panose="02020603050405020304" pitchFamily="18" charset="0"/>
              </a:rPr>
              <a:t>HIGH</a:t>
            </a:r>
            <a:r>
              <a:rPr lang="en-US" sz="2000" dirty="0">
                <a:solidFill>
                  <a:schemeClr val="tx1"/>
                </a:solidFill>
                <a:latin typeface="Times New Roman" panose="02020603050405020304" pitchFamily="18" charset="0"/>
                <a:cs typeface="Times New Roman" panose="02020603050405020304" pitchFamily="18" charset="0"/>
              </a:rPr>
              <a:t>, the APB peripheral  extends the transfer by driving </a:t>
            </a:r>
            <a:r>
              <a:rPr lang="en-US" sz="2000" b="1" dirty="0">
                <a:solidFill>
                  <a:schemeClr val="tx1"/>
                </a:solidFill>
                <a:latin typeface="Times New Roman" panose="02020603050405020304" pitchFamily="18" charset="0"/>
                <a:cs typeface="Times New Roman" panose="02020603050405020304" pitchFamily="18" charset="0"/>
              </a:rPr>
              <a:t>PREADY  LOW</a:t>
            </a:r>
            <a:r>
              <a:rPr lang="en-US" sz="2000" dirty="0">
                <a:solidFill>
                  <a:schemeClr val="tx1"/>
                </a:solidFill>
                <a:latin typeface="Times New Roman" panose="02020603050405020304" pitchFamily="18" charset="0"/>
                <a:cs typeface="Times New Roman" panose="02020603050405020304" pitchFamily="18" charset="0"/>
              </a:rPr>
              <a:t>. The following signals remain unchanged while </a:t>
            </a:r>
            <a:r>
              <a:rPr lang="en-US" sz="2000" b="1" dirty="0">
                <a:solidFill>
                  <a:schemeClr val="tx1"/>
                </a:solidFill>
                <a:latin typeface="Times New Roman" panose="02020603050405020304" pitchFamily="18" charset="0"/>
                <a:cs typeface="Times New Roman" panose="02020603050405020304" pitchFamily="18" charset="0"/>
              </a:rPr>
              <a:t>PREADY</a:t>
            </a:r>
            <a:r>
              <a:rPr lang="en-US" sz="2000" dirty="0">
                <a:solidFill>
                  <a:schemeClr val="tx1"/>
                </a:solidFill>
                <a:latin typeface="Times New Roman" panose="02020603050405020304" pitchFamily="18" charset="0"/>
                <a:cs typeface="Times New Roman" panose="02020603050405020304" pitchFamily="18" charset="0"/>
              </a:rPr>
              <a:t> remains </a:t>
            </a:r>
            <a:r>
              <a:rPr lang="en-US" sz="2000" b="1" dirty="0">
                <a:solidFill>
                  <a:schemeClr val="tx1"/>
                </a:solidFill>
                <a:latin typeface="Times New Roman" panose="02020603050405020304" pitchFamily="18" charset="0"/>
                <a:cs typeface="Times New Roman" panose="02020603050405020304" pitchFamily="18" charset="0"/>
              </a:rPr>
              <a:t>LOW</a:t>
            </a:r>
            <a:r>
              <a:rPr lang="en-US" sz="2000" dirty="0">
                <a:solidFill>
                  <a:schemeClr val="tx1"/>
                </a:solidFill>
                <a:latin typeface="Times New Roman" panose="02020603050405020304" pitchFamily="18" charset="0"/>
                <a:cs typeface="Times New Roman" panose="02020603050405020304" pitchFamily="18" charset="0"/>
              </a:rPr>
              <a:t>:</a:t>
            </a:r>
            <a:br>
              <a:rPr lang="en-US" sz="2000" dirty="0">
                <a:solidFill>
                  <a:schemeClr val="tx1"/>
                </a:solidFill>
                <a:latin typeface="Times New Roman" panose="02020603050405020304" pitchFamily="18" charset="0"/>
                <a:cs typeface="Times New Roman" panose="02020603050405020304" pitchFamily="18" charset="0"/>
              </a:rPr>
            </a:b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 • Address signal, </a:t>
            </a:r>
            <a:r>
              <a:rPr lang="en-US" sz="2000" b="1" dirty="0">
                <a:solidFill>
                  <a:schemeClr val="tx1"/>
                </a:solidFill>
                <a:latin typeface="Times New Roman" panose="02020603050405020304" pitchFamily="18" charset="0"/>
                <a:cs typeface="Times New Roman" panose="02020603050405020304" pitchFamily="18" charset="0"/>
              </a:rPr>
              <a:t>PADDR</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 • Direction signal, </a:t>
            </a:r>
            <a:r>
              <a:rPr lang="en-US" sz="2000" b="1" dirty="0">
                <a:solidFill>
                  <a:schemeClr val="tx1"/>
                </a:solidFill>
                <a:latin typeface="Times New Roman" panose="02020603050405020304" pitchFamily="18" charset="0"/>
                <a:cs typeface="Times New Roman" panose="02020603050405020304" pitchFamily="18" charset="0"/>
              </a:rPr>
              <a:t>PWRITE</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 • Select signal, </a:t>
            </a:r>
            <a:r>
              <a:rPr lang="en-US" sz="2000" b="1" dirty="0">
                <a:solidFill>
                  <a:schemeClr val="tx1"/>
                </a:solidFill>
                <a:latin typeface="Times New Roman" panose="02020603050405020304" pitchFamily="18" charset="0"/>
                <a:cs typeface="Times New Roman" panose="02020603050405020304" pitchFamily="18" charset="0"/>
              </a:rPr>
              <a:t>PSELx</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 • Enable signal, </a:t>
            </a:r>
            <a:r>
              <a:rPr lang="en-US" sz="2000" b="1" dirty="0">
                <a:solidFill>
                  <a:schemeClr val="tx1"/>
                </a:solidFill>
                <a:latin typeface="Times New Roman" panose="02020603050405020304" pitchFamily="18" charset="0"/>
                <a:cs typeface="Times New Roman" panose="02020603050405020304" pitchFamily="18" charset="0"/>
              </a:rPr>
              <a:t>PENABLE</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 • Write data signal, </a:t>
            </a:r>
            <a:r>
              <a:rPr lang="en-US" sz="2000" b="1" dirty="0">
                <a:solidFill>
                  <a:schemeClr val="tx1"/>
                </a:solidFill>
                <a:latin typeface="Times New Roman" panose="02020603050405020304" pitchFamily="18" charset="0"/>
                <a:cs typeface="Times New Roman" panose="02020603050405020304" pitchFamily="18" charset="0"/>
              </a:rPr>
              <a:t>PWDATA</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 • </a:t>
            </a:r>
            <a:r>
              <a:rPr lang="en-US" sz="2000" b="1" dirty="0">
                <a:solidFill>
                  <a:schemeClr val="tx1"/>
                </a:solidFill>
                <a:latin typeface="Times New Roman" panose="02020603050405020304" pitchFamily="18" charset="0"/>
                <a:cs typeface="Times New Roman" panose="02020603050405020304" pitchFamily="18" charset="0"/>
              </a:rPr>
              <a:t>PREADY</a:t>
            </a:r>
            <a:r>
              <a:rPr lang="en-US" sz="2000" dirty="0">
                <a:solidFill>
                  <a:schemeClr val="tx1"/>
                </a:solidFill>
                <a:latin typeface="Times New Roman" panose="02020603050405020304" pitchFamily="18" charset="0"/>
                <a:cs typeface="Times New Roman" panose="02020603050405020304" pitchFamily="18" charset="0"/>
              </a:rPr>
              <a:t> can take any value when</a:t>
            </a:r>
            <a:r>
              <a:rPr lang="en-US" sz="2000" b="1" dirty="0">
                <a:solidFill>
                  <a:schemeClr val="tx1"/>
                </a:solidFill>
                <a:latin typeface="Times New Roman" panose="02020603050405020304" pitchFamily="18" charset="0"/>
                <a:cs typeface="Times New Roman" panose="02020603050405020304" pitchFamily="18" charset="0"/>
              </a:rPr>
              <a:t> PENABLE </a:t>
            </a:r>
            <a:r>
              <a:rPr lang="en-US" sz="2000" dirty="0">
                <a:solidFill>
                  <a:schemeClr val="tx1"/>
                </a:solidFill>
                <a:latin typeface="Times New Roman" panose="02020603050405020304" pitchFamily="18" charset="0"/>
                <a:cs typeface="Times New Roman" panose="02020603050405020304" pitchFamily="18" charset="0"/>
              </a:rPr>
              <a:t>is </a:t>
            </a:r>
            <a:r>
              <a:rPr lang="en-US" sz="2000" b="1" dirty="0">
                <a:solidFill>
                  <a:schemeClr val="tx1"/>
                </a:solidFill>
                <a:latin typeface="Times New Roman" panose="02020603050405020304" pitchFamily="18" charset="0"/>
                <a:cs typeface="Times New Roman" panose="02020603050405020304" pitchFamily="18" charset="0"/>
              </a:rPr>
              <a:t>LOW</a:t>
            </a:r>
            <a:r>
              <a:rPr lang="en-US" sz="2000" dirty="0">
                <a:solidFill>
                  <a:schemeClr val="tx1"/>
                </a:solidFill>
                <a:latin typeface="Times New Roman" panose="02020603050405020304" pitchFamily="18" charset="0"/>
                <a:cs typeface="Times New Roman" panose="02020603050405020304" pitchFamily="18" charset="0"/>
              </a:rPr>
              <a:t>. This ensures that peripherals that have a fixed two cycle access can tie </a:t>
            </a:r>
            <a:r>
              <a:rPr lang="en-US" sz="2000" b="1" dirty="0">
                <a:solidFill>
                  <a:schemeClr val="tx1"/>
                </a:solidFill>
                <a:latin typeface="Times New Roman" panose="02020603050405020304" pitchFamily="18" charset="0"/>
                <a:cs typeface="Times New Roman" panose="02020603050405020304" pitchFamily="18" charset="0"/>
              </a:rPr>
              <a:t>PREADY HIGH.</a:t>
            </a:r>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3464FE3-70C0-A3D8-E8F3-E5A9CECDF3BB}"/>
              </a:ext>
            </a:extLst>
          </p:cNvPr>
          <p:cNvSpPr txBox="1"/>
          <p:nvPr/>
        </p:nvSpPr>
        <p:spPr>
          <a:xfrm>
            <a:off x="2826327" y="1930400"/>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426212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4245DB-B018-F952-4151-C13980724072}"/>
              </a:ext>
            </a:extLst>
          </p:cNvPr>
          <p:cNvPicPr>
            <a:picLocks noChangeAspect="1"/>
          </p:cNvPicPr>
          <p:nvPr/>
        </p:nvPicPr>
        <p:blipFill>
          <a:blip r:embed="rId2"/>
          <a:stretch>
            <a:fillRect/>
          </a:stretch>
        </p:blipFill>
        <p:spPr>
          <a:xfrm>
            <a:off x="2022764" y="1136072"/>
            <a:ext cx="7467600" cy="3893127"/>
          </a:xfrm>
          <a:prstGeom prst="rect">
            <a:avLst/>
          </a:prstGeom>
        </p:spPr>
      </p:pic>
      <p:sp>
        <p:nvSpPr>
          <p:cNvPr id="4" name="TextBox 3">
            <a:extLst>
              <a:ext uri="{FF2B5EF4-FFF2-40B4-BE49-F238E27FC236}">
                <a16:creationId xmlns:a16="http://schemas.microsoft.com/office/drawing/2014/main" id="{FB7F5CE6-768D-0B72-882E-9510F0461D47}"/>
              </a:ext>
            </a:extLst>
          </p:cNvPr>
          <p:cNvSpPr txBox="1"/>
          <p:nvPr/>
        </p:nvSpPr>
        <p:spPr>
          <a:xfrm>
            <a:off x="3546764" y="5458691"/>
            <a:ext cx="3536609" cy="369332"/>
          </a:xfrm>
          <a:prstGeom prst="rect">
            <a:avLst/>
          </a:prstGeom>
          <a:noFill/>
        </p:spPr>
        <p:txBody>
          <a:bodyPr wrap="none" rtlCol="0">
            <a:spAutoFit/>
          </a:bodyPr>
          <a:lstStyle/>
          <a:p>
            <a:r>
              <a:rPr lang="en-US" dirty="0"/>
              <a:t>Figure: With wait state transfer </a:t>
            </a:r>
            <a:endParaRPr lang="en-IN" dirty="0"/>
          </a:p>
        </p:txBody>
      </p:sp>
    </p:spTree>
    <p:extLst>
      <p:ext uri="{BB962C8B-B14F-4D97-AF65-F5344CB8AC3E}">
        <p14:creationId xmlns:p14="http://schemas.microsoft.com/office/powerpoint/2010/main" val="2647482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EA385-E1BB-D24E-5F23-BE7B704EDC61}"/>
              </a:ext>
            </a:extLst>
          </p:cNvPr>
          <p:cNvSpPr>
            <a:spLocks noGrp="1"/>
          </p:cNvSpPr>
          <p:nvPr>
            <p:ph type="title"/>
          </p:nvPr>
        </p:nvSpPr>
        <p:spPr>
          <a:xfrm>
            <a:off x="677334" y="609599"/>
            <a:ext cx="10087648" cy="6068291"/>
          </a:xfrm>
        </p:spPr>
        <p:txBody>
          <a:bodyPr>
            <a:normAutofit/>
          </a:bodyPr>
          <a:lstStyle/>
          <a:p>
            <a:r>
              <a:rPr lang="en-US" dirty="0">
                <a:latin typeface="Times New Roman" panose="02020603050405020304" pitchFamily="18" charset="0"/>
                <a:cs typeface="Times New Roman" panose="02020603050405020304" pitchFamily="18" charset="0"/>
              </a:rPr>
              <a:t>READ TRANSFER:</a:t>
            </a:r>
            <a:br>
              <a:rPr lang="en-US" dirty="0">
                <a:latin typeface="Times New Roman" panose="02020603050405020304" pitchFamily="18" charset="0"/>
                <a:cs typeface="Times New Roman" panose="02020603050405020304" pitchFamily="18" charset="0"/>
              </a:rPr>
            </a:br>
            <a:r>
              <a:rPr lang="en-US" dirty="0"/>
              <a:t>	</a:t>
            </a:r>
            <a:r>
              <a:rPr lang="en-US" sz="2000" dirty="0">
                <a:solidFill>
                  <a:schemeClr val="tx1"/>
                </a:solidFill>
                <a:latin typeface="Times New Roman" panose="02020603050405020304" pitchFamily="18" charset="0"/>
                <a:cs typeface="Times New Roman" panose="02020603050405020304" pitchFamily="18" charset="0"/>
              </a:rPr>
              <a:t>Two types of read transfer are described in this section:</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 	• With no wait states </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	• With wait states</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 All signals shown in this section are sampled at the rising edge of </a:t>
            </a:r>
            <a:r>
              <a:rPr lang="en-US" sz="2000" b="1" dirty="0">
                <a:solidFill>
                  <a:schemeClr val="tx1"/>
                </a:solidFill>
                <a:latin typeface="Times New Roman" panose="02020603050405020304" pitchFamily="18" charset="0"/>
                <a:cs typeface="Times New Roman" panose="02020603050405020304" pitchFamily="18" charset="0"/>
              </a:rPr>
              <a:t>PCLK.</a:t>
            </a:r>
            <a:br>
              <a:rPr lang="en-US" sz="2000" b="1" dirty="0">
                <a:solidFill>
                  <a:schemeClr val="tx1"/>
                </a:solidFill>
                <a:latin typeface="Times New Roman" panose="02020603050405020304" pitchFamily="18" charset="0"/>
                <a:cs typeface="Times New Roman" panose="02020603050405020304" pitchFamily="18" charset="0"/>
              </a:rPr>
            </a:br>
            <a:br>
              <a:rPr lang="en-US" sz="2000" b="1" dirty="0">
                <a:solidFill>
                  <a:schemeClr val="tx1"/>
                </a:solidFill>
                <a:latin typeface="Times New Roman" panose="02020603050405020304" pitchFamily="18" charset="0"/>
                <a:cs typeface="Times New Roman" panose="02020603050405020304" pitchFamily="18" charset="0"/>
              </a:rPr>
            </a:br>
            <a:r>
              <a:rPr lang="en-IN" sz="2000" b="1" dirty="0">
                <a:solidFill>
                  <a:schemeClr val="tx1"/>
                </a:solidFill>
                <a:latin typeface="Times New Roman" panose="02020603050405020304" pitchFamily="18" charset="0"/>
                <a:cs typeface="Times New Roman" panose="02020603050405020304" pitchFamily="18" charset="0"/>
              </a:rPr>
              <a:t>With no wait states:</a:t>
            </a:r>
            <a:br>
              <a:rPr lang="en-IN" sz="2000" b="1" dirty="0">
                <a:solidFill>
                  <a:schemeClr val="tx1"/>
                </a:solidFill>
                <a:latin typeface="Times New Roman" panose="02020603050405020304" pitchFamily="18" charset="0"/>
                <a:cs typeface="Times New Roman" panose="02020603050405020304" pitchFamily="18" charset="0"/>
              </a:rPr>
            </a:br>
            <a:br>
              <a:rPr lang="en-IN" sz="2400" b="1"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The timing of the address,</a:t>
            </a:r>
            <a:r>
              <a:rPr lang="en-US" sz="2000" b="1" dirty="0">
                <a:solidFill>
                  <a:schemeClr val="tx1"/>
                </a:solidFill>
                <a:latin typeface="Times New Roman" panose="02020603050405020304" pitchFamily="18" charset="0"/>
                <a:cs typeface="Times New Roman" panose="02020603050405020304" pitchFamily="18" charset="0"/>
              </a:rPr>
              <a:t> PADDR</a:t>
            </a:r>
            <a:r>
              <a:rPr lang="en-US" sz="2000" dirty="0">
                <a:solidFill>
                  <a:schemeClr val="tx1"/>
                </a:solidFill>
                <a:latin typeface="Times New Roman" panose="02020603050405020304" pitchFamily="18" charset="0"/>
                <a:cs typeface="Times New Roman" panose="02020603050405020304" pitchFamily="18" charset="0"/>
              </a:rPr>
              <a:t>, write, </a:t>
            </a:r>
            <a:r>
              <a:rPr lang="en-US" sz="2000" b="1" dirty="0">
                <a:solidFill>
                  <a:schemeClr val="tx1"/>
                </a:solidFill>
                <a:latin typeface="Times New Roman" panose="02020603050405020304" pitchFamily="18" charset="0"/>
                <a:cs typeface="Times New Roman" panose="02020603050405020304" pitchFamily="18" charset="0"/>
              </a:rPr>
              <a:t>PWRITE</a:t>
            </a:r>
            <a:r>
              <a:rPr lang="en-US" sz="2000" dirty="0">
                <a:solidFill>
                  <a:schemeClr val="tx1"/>
                </a:solidFill>
                <a:latin typeface="Times New Roman" panose="02020603050405020304" pitchFamily="18" charset="0"/>
                <a:cs typeface="Times New Roman" panose="02020603050405020304" pitchFamily="18" charset="0"/>
              </a:rPr>
              <a:t>, select,</a:t>
            </a:r>
            <a:r>
              <a:rPr lang="en-US" sz="2000" b="1" dirty="0">
                <a:solidFill>
                  <a:schemeClr val="tx1"/>
                </a:solidFill>
                <a:latin typeface="Times New Roman" panose="02020603050405020304" pitchFamily="18" charset="0"/>
                <a:cs typeface="Times New Roman" panose="02020603050405020304" pitchFamily="18" charset="0"/>
              </a:rPr>
              <a:t> PSELx</a:t>
            </a:r>
            <a:r>
              <a:rPr lang="en-US" sz="2000" dirty="0">
                <a:solidFill>
                  <a:schemeClr val="tx1"/>
                </a:solidFill>
                <a:latin typeface="Times New Roman" panose="02020603050405020304" pitchFamily="18" charset="0"/>
                <a:cs typeface="Times New Roman" panose="02020603050405020304" pitchFamily="18" charset="0"/>
              </a:rPr>
              <a:t>, and enable,</a:t>
            </a:r>
            <a:r>
              <a:rPr lang="en-US" sz="2000" b="1" dirty="0">
                <a:solidFill>
                  <a:schemeClr val="tx1"/>
                </a:solidFill>
                <a:latin typeface="Times New Roman" panose="02020603050405020304" pitchFamily="18" charset="0"/>
                <a:cs typeface="Times New Roman" panose="02020603050405020304" pitchFamily="18" charset="0"/>
              </a:rPr>
              <a:t> PENABLE</a:t>
            </a:r>
            <a:r>
              <a:rPr lang="en-US" sz="2000" dirty="0">
                <a:solidFill>
                  <a:schemeClr val="tx1"/>
                </a:solidFill>
                <a:latin typeface="Times New Roman" panose="02020603050405020304" pitchFamily="18" charset="0"/>
                <a:cs typeface="Times New Roman" panose="02020603050405020304" pitchFamily="18" charset="0"/>
              </a:rPr>
              <a:t>, signals are the same as described in Write transfers on page.</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 The Completer must provide the data before the end of the read transfer</a:t>
            </a:r>
            <a:r>
              <a:rPr lang="en-IN" sz="2000" dirty="0">
                <a:solidFill>
                  <a:schemeClr val="tx1"/>
                </a:solidFill>
                <a:latin typeface="Times New Roman" panose="02020603050405020304" pitchFamily="18" charset="0"/>
                <a:cs typeface="Times New Roman" panose="02020603050405020304" pitchFamily="18" charset="0"/>
              </a:rPr>
              <a:t>.</a:t>
            </a:r>
            <a:endParaRPr lang="en-IN" sz="2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9208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15D517-D4E1-F62A-A6D8-F678D10C8546}"/>
              </a:ext>
            </a:extLst>
          </p:cNvPr>
          <p:cNvPicPr>
            <a:picLocks noChangeAspect="1"/>
          </p:cNvPicPr>
          <p:nvPr/>
        </p:nvPicPr>
        <p:blipFill>
          <a:blip r:embed="rId2"/>
          <a:stretch>
            <a:fillRect/>
          </a:stretch>
        </p:blipFill>
        <p:spPr>
          <a:xfrm>
            <a:off x="1302326" y="526474"/>
            <a:ext cx="8312727" cy="4655126"/>
          </a:xfrm>
          <a:prstGeom prst="rect">
            <a:avLst/>
          </a:prstGeom>
        </p:spPr>
      </p:pic>
      <p:sp>
        <p:nvSpPr>
          <p:cNvPr id="4" name="TextBox 3">
            <a:extLst>
              <a:ext uri="{FF2B5EF4-FFF2-40B4-BE49-F238E27FC236}">
                <a16:creationId xmlns:a16="http://schemas.microsoft.com/office/drawing/2014/main" id="{CAB8B20D-E4A3-29B5-C647-64EAB60D09C3}"/>
              </a:ext>
            </a:extLst>
          </p:cNvPr>
          <p:cNvSpPr txBox="1"/>
          <p:nvPr/>
        </p:nvSpPr>
        <p:spPr>
          <a:xfrm>
            <a:off x="4281913" y="5458691"/>
            <a:ext cx="3628173" cy="369332"/>
          </a:xfrm>
          <a:prstGeom prst="rect">
            <a:avLst/>
          </a:prstGeom>
          <a:noFill/>
        </p:spPr>
        <p:txBody>
          <a:bodyPr wrap="none" rtlCol="0">
            <a:spAutoFit/>
          </a:bodyPr>
          <a:lstStyle/>
          <a:p>
            <a:r>
              <a:rPr lang="en-US" dirty="0"/>
              <a:t>Read transfer with no wait states</a:t>
            </a:r>
            <a:endParaRPr lang="en-IN" dirty="0"/>
          </a:p>
        </p:txBody>
      </p:sp>
    </p:spTree>
    <p:extLst>
      <p:ext uri="{BB962C8B-B14F-4D97-AF65-F5344CB8AC3E}">
        <p14:creationId xmlns:p14="http://schemas.microsoft.com/office/powerpoint/2010/main" val="3631507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72D18-FAEF-E0B3-550E-031158C361C5}"/>
              </a:ext>
            </a:extLst>
          </p:cNvPr>
          <p:cNvSpPr>
            <a:spLocks noGrp="1"/>
          </p:cNvSpPr>
          <p:nvPr>
            <p:ph type="title"/>
          </p:nvPr>
        </p:nvSpPr>
        <p:spPr>
          <a:xfrm>
            <a:off x="677334" y="609600"/>
            <a:ext cx="9575030" cy="5735782"/>
          </a:xfrm>
        </p:spPr>
        <p:txBody>
          <a:bodyPr>
            <a:normAutofit/>
          </a:bodyPr>
          <a:lstStyle/>
          <a:p>
            <a:r>
              <a:rPr lang="en-IN" dirty="0">
                <a:latin typeface="Times New Roman" panose="02020603050405020304" pitchFamily="18" charset="0"/>
                <a:cs typeface="Times New Roman" panose="02020603050405020304" pitchFamily="18" charset="0"/>
              </a:rPr>
              <a:t>With wait states</a:t>
            </a:r>
            <a:r>
              <a:rPr lang="en-IN" dirty="0"/>
              <a:t>:</a:t>
            </a:r>
            <a:br>
              <a:rPr lang="en-IN" dirty="0"/>
            </a:br>
            <a:br>
              <a:rPr lang="en-IN" dirty="0"/>
            </a:br>
            <a:r>
              <a:rPr lang="en-US" sz="2000" dirty="0">
                <a:solidFill>
                  <a:schemeClr val="tx1"/>
                </a:solidFill>
                <a:latin typeface="Times New Roman" panose="02020603050405020304" pitchFamily="18" charset="0"/>
                <a:cs typeface="Times New Roman" panose="02020603050405020304" pitchFamily="18" charset="0"/>
              </a:rPr>
              <a:t>The transfer is extended if </a:t>
            </a:r>
            <a:r>
              <a:rPr lang="en-US" sz="2000" b="1" dirty="0">
                <a:solidFill>
                  <a:schemeClr val="tx1"/>
                </a:solidFill>
                <a:latin typeface="Times New Roman" panose="02020603050405020304" pitchFamily="18" charset="0"/>
                <a:cs typeface="Times New Roman" panose="02020603050405020304" pitchFamily="18" charset="0"/>
              </a:rPr>
              <a:t>PREADY</a:t>
            </a:r>
            <a:r>
              <a:rPr lang="en-US" sz="2000" dirty="0">
                <a:solidFill>
                  <a:schemeClr val="tx1"/>
                </a:solidFill>
                <a:latin typeface="Times New Roman" panose="02020603050405020304" pitchFamily="18" charset="0"/>
                <a:cs typeface="Times New Roman" panose="02020603050405020304" pitchFamily="18" charset="0"/>
              </a:rPr>
              <a:t> is driven </a:t>
            </a:r>
            <a:r>
              <a:rPr lang="en-US" sz="2000" b="1" dirty="0">
                <a:solidFill>
                  <a:schemeClr val="tx1"/>
                </a:solidFill>
                <a:latin typeface="Times New Roman" panose="02020603050405020304" pitchFamily="18" charset="0"/>
                <a:cs typeface="Times New Roman" panose="02020603050405020304" pitchFamily="18" charset="0"/>
              </a:rPr>
              <a:t>LOW</a:t>
            </a:r>
            <a:r>
              <a:rPr lang="en-US" sz="2000" dirty="0">
                <a:solidFill>
                  <a:schemeClr val="tx1"/>
                </a:solidFill>
                <a:latin typeface="Times New Roman" panose="02020603050405020304" pitchFamily="18" charset="0"/>
                <a:cs typeface="Times New Roman" panose="02020603050405020304" pitchFamily="18" charset="0"/>
              </a:rPr>
              <a:t> during an Access phase. The following signals remain unchanged while</a:t>
            </a:r>
            <a:r>
              <a:rPr lang="en-US" sz="2000" b="1" dirty="0">
                <a:solidFill>
                  <a:schemeClr val="tx1"/>
                </a:solidFill>
                <a:latin typeface="Times New Roman" panose="02020603050405020304" pitchFamily="18" charset="0"/>
                <a:cs typeface="Times New Roman" panose="02020603050405020304" pitchFamily="18" charset="0"/>
              </a:rPr>
              <a:t> PREADY </a:t>
            </a:r>
            <a:r>
              <a:rPr lang="en-US" sz="2000" dirty="0">
                <a:solidFill>
                  <a:schemeClr val="tx1"/>
                </a:solidFill>
                <a:latin typeface="Times New Roman" panose="02020603050405020304" pitchFamily="18" charset="0"/>
                <a:cs typeface="Times New Roman" panose="02020603050405020304" pitchFamily="18" charset="0"/>
              </a:rPr>
              <a:t>remains </a:t>
            </a:r>
            <a:r>
              <a:rPr lang="en-US" sz="2000" b="1" dirty="0">
                <a:solidFill>
                  <a:schemeClr val="tx1"/>
                </a:solidFill>
                <a:latin typeface="Times New Roman" panose="02020603050405020304" pitchFamily="18" charset="0"/>
                <a:cs typeface="Times New Roman" panose="02020603050405020304" pitchFamily="18" charset="0"/>
              </a:rPr>
              <a:t>LOW</a:t>
            </a:r>
            <a:r>
              <a:rPr lang="en-US" sz="2000" dirty="0">
                <a:solidFill>
                  <a:schemeClr val="tx1"/>
                </a:solidFill>
                <a:latin typeface="Times New Roman" panose="02020603050405020304" pitchFamily="18" charset="0"/>
                <a:cs typeface="Times New Roman" panose="02020603050405020304" pitchFamily="18" charset="0"/>
              </a:rPr>
              <a:t>: </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 Address signal, </a:t>
            </a:r>
            <a:r>
              <a:rPr lang="en-US" sz="2000" b="1" dirty="0">
                <a:solidFill>
                  <a:schemeClr val="tx1"/>
                </a:solidFill>
                <a:latin typeface="Times New Roman" panose="02020603050405020304" pitchFamily="18" charset="0"/>
                <a:cs typeface="Times New Roman" panose="02020603050405020304" pitchFamily="18" charset="0"/>
              </a:rPr>
              <a:t>PADDR</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 • Direction signal, </a:t>
            </a:r>
            <a:r>
              <a:rPr lang="en-US" sz="2000" b="1" dirty="0">
                <a:solidFill>
                  <a:schemeClr val="tx1"/>
                </a:solidFill>
                <a:latin typeface="Times New Roman" panose="02020603050405020304" pitchFamily="18" charset="0"/>
                <a:cs typeface="Times New Roman" panose="02020603050405020304" pitchFamily="18" charset="0"/>
              </a:rPr>
              <a:t>PWRITE</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 • Select signal, </a:t>
            </a:r>
            <a:r>
              <a:rPr lang="en-US" sz="2000" b="1" dirty="0">
                <a:solidFill>
                  <a:schemeClr val="tx1"/>
                </a:solidFill>
                <a:latin typeface="Times New Roman" panose="02020603050405020304" pitchFamily="18" charset="0"/>
                <a:cs typeface="Times New Roman" panose="02020603050405020304" pitchFamily="18" charset="0"/>
              </a:rPr>
              <a:t>PSEL</a:t>
            </a:r>
            <a:r>
              <a:rPr lang="en-US" sz="2000" dirty="0">
                <a:solidFill>
                  <a:schemeClr val="tx1"/>
                </a:solidFill>
                <a:latin typeface="Times New Roman" panose="02020603050405020304" pitchFamily="18" charset="0"/>
                <a:cs typeface="Times New Roman" panose="02020603050405020304" pitchFamily="18" charset="0"/>
              </a:rPr>
              <a:t> </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 Enable signal, </a:t>
            </a:r>
            <a:r>
              <a:rPr lang="en-US" sz="2000" b="1" dirty="0">
                <a:solidFill>
                  <a:schemeClr val="tx1"/>
                </a:solidFill>
                <a:latin typeface="Times New Roman" panose="02020603050405020304" pitchFamily="18" charset="0"/>
                <a:cs typeface="Times New Roman" panose="02020603050405020304" pitchFamily="18" charset="0"/>
              </a:rPr>
              <a:t>PENABLE</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B01B2AE-C587-0F33-DD80-E06298A5D9E5}"/>
              </a:ext>
            </a:extLst>
          </p:cNvPr>
          <p:cNvPicPr>
            <a:picLocks noChangeAspect="1"/>
          </p:cNvPicPr>
          <p:nvPr/>
        </p:nvPicPr>
        <p:blipFill>
          <a:blip r:embed="rId2"/>
          <a:stretch>
            <a:fillRect/>
          </a:stretch>
        </p:blipFill>
        <p:spPr>
          <a:xfrm>
            <a:off x="3951672" y="2618260"/>
            <a:ext cx="6176000" cy="2428442"/>
          </a:xfrm>
          <a:prstGeom prst="rect">
            <a:avLst/>
          </a:prstGeom>
        </p:spPr>
      </p:pic>
      <p:sp>
        <p:nvSpPr>
          <p:cNvPr id="6" name="TextBox 5">
            <a:extLst>
              <a:ext uri="{FF2B5EF4-FFF2-40B4-BE49-F238E27FC236}">
                <a16:creationId xmlns:a16="http://schemas.microsoft.com/office/drawing/2014/main" id="{546FE491-B71F-0EBA-5D8D-0B557E030A9F}"/>
              </a:ext>
            </a:extLst>
          </p:cNvPr>
          <p:cNvSpPr txBox="1"/>
          <p:nvPr/>
        </p:nvSpPr>
        <p:spPr>
          <a:xfrm>
            <a:off x="5464849" y="5195638"/>
            <a:ext cx="6102926" cy="369332"/>
          </a:xfrm>
          <a:prstGeom prst="rect">
            <a:avLst/>
          </a:prstGeom>
          <a:noFill/>
        </p:spPr>
        <p:txBody>
          <a:bodyPr wrap="square">
            <a:spAutoFit/>
          </a:bodyPr>
          <a:lstStyle/>
          <a:p>
            <a:r>
              <a:rPr lang="en-US" dirty="0"/>
              <a:t>Read transfer with wait states</a:t>
            </a:r>
            <a:endParaRPr lang="en-IN" dirty="0"/>
          </a:p>
        </p:txBody>
      </p:sp>
      <p:sp>
        <p:nvSpPr>
          <p:cNvPr id="8" name="TextBox 7">
            <a:extLst>
              <a:ext uri="{FF2B5EF4-FFF2-40B4-BE49-F238E27FC236}">
                <a16:creationId xmlns:a16="http://schemas.microsoft.com/office/drawing/2014/main" id="{B3240A04-5E5A-C57F-F961-83AB85D86AC8}"/>
              </a:ext>
            </a:extLst>
          </p:cNvPr>
          <p:cNvSpPr txBox="1"/>
          <p:nvPr/>
        </p:nvSpPr>
        <p:spPr>
          <a:xfrm>
            <a:off x="1845781" y="5493511"/>
            <a:ext cx="6102926"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Shows that two cycles are added using </a:t>
            </a:r>
            <a:r>
              <a:rPr lang="en-US" b="1" dirty="0">
                <a:latin typeface="Times New Roman" panose="02020603050405020304" pitchFamily="18" charset="0"/>
                <a:cs typeface="Times New Roman" panose="02020603050405020304" pitchFamily="18" charset="0"/>
              </a:rPr>
              <a:t>PREADY.</a:t>
            </a:r>
            <a:r>
              <a:rPr lang="en-US" dirty="0">
                <a:latin typeface="Times New Roman" panose="02020603050405020304" pitchFamily="18" charset="0"/>
                <a:cs typeface="Times New Roman" panose="02020603050405020304" pitchFamily="18" charset="0"/>
              </a:rPr>
              <a:t> However, any number of additional cycles can be added, from zero upwards.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3080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50B27-8B00-8AC1-5C2A-8127E5B8A7DF}"/>
              </a:ext>
            </a:extLst>
          </p:cNvPr>
          <p:cNvSpPr>
            <a:spLocks noGrp="1"/>
          </p:cNvSpPr>
          <p:nvPr>
            <p:ph type="title"/>
          </p:nvPr>
        </p:nvSpPr>
        <p:spPr>
          <a:xfrm>
            <a:off x="677333" y="609599"/>
            <a:ext cx="10489431" cy="6123709"/>
          </a:xfrm>
        </p:spPr>
        <p:txBody>
          <a:bodyPr>
            <a:normAutofit fontScale="90000"/>
          </a:bodyPr>
          <a:lstStyle/>
          <a:p>
            <a:r>
              <a:rPr lang="en-US" sz="4000" dirty="0">
                <a:latin typeface="Times New Roman" panose="02020603050405020304" pitchFamily="18" charset="0"/>
                <a:cs typeface="Times New Roman" panose="02020603050405020304" pitchFamily="18" charset="0"/>
              </a:rPr>
              <a:t>Error response</a:t>
            </a:r>
            <a:r>
              <a:rPr lang="en-US" sz="32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200" b="1" dirty="0">
                <a:solidFill>
                  <a:schemeClr val="tx1"/>
                </a:solidFill>
                <a:latin typeface="Times New Roman" panose="02020603050405020304" pitchFamily="18" charset="0"/>
                <a:cs typeface="Times New Roman" panose="02020603050405020304" pitchFamily="18" charset="0"/>
              </a:rPr>
              <a:t>PSLVERR</a:t>
            </a:r>
            <a:r>
              <a:rPr lang="en-US" sz="2200" dirty="0">
                <a:solidFill>
                  <a:schemeClr val="tx1"/>
                </a:solidFill>
                <a:latin typeface="Times New Roman" panose="02020603050405020304" pitchFamily="18" charset="0"/>
                <a:cs typeface="Times New Roman" panose="02020603050405020304" pitchFamily="18" charset="0"/>
              </a:rPr>
              <a:t> can be used to indicate an error condition on an</a:t>
            </a:r>
            <a:r>
              <a:rPr lang="en-US" sz="2200" b="1" dirty="0">
                <a:solidFill>
                  <a:schemeClr val="tx1"/>
                </a:solidFill>
                <a:latin typeface="Times New Roman" panose="02020603050405020304" pitchFamily="18" charset="0"/>
                <a:cs typeface="Times New Roman" panose="02020603050405020304" pitchFamily="18" charset="0"/>
              </a:rPr>
              <a:t> APB </a:t>
            </a:r>
            <a:r>
              <a:rPr lang="en-US" sz="2200" dirty="0">
                <a:solidFill>
                  <a:schemeClr val="tx1"/>
                </a:solidFill>
                <a:latin typeface="Times New Roman" panose="02020603050405020304" pitchFamily="18" charset="0"/>
                <a:cs typeface="Times New Roman" panose="02020603050405020304" pitchFamily="18" charset="0"/>
              </a:rPr>
              <a:t>transfer. Error conditions can occur on both read and write transactions.</a:t>
            </a:r>
            <a:br>
              <a:rPr lang="en-US" sz="2200" dirty="0">
                <a:solidFill>
                  <a:schemeClr val="tx1"/>
                </a:solidFill>
                <a:latin typeface="Times New Roman" panose="02020603050405020304" pitchFamily="18" charset="0"/>
                <a:cs typeface="Times New Roman" panose="02020603050405020304" pitchFamily="18" charset="0"/>
              </a:rPr>
            </a:br>
            <a:r>
              <a:rPr lang="en-US" sz="2200" dirty="0">
                <a:solidFill>
                  <a:schemeClr val="tx1"/>
                </a:solidFill>
                <a:latin typeface="Times New Roman" panose="02020603050405020304" pitchFamily="18" charset="0"/>
                <a:cs typeface="Times New Roman" panose="02020603050405020304" pitchFamily="18" charset="0"/>
              </a:rPr>
              <a:t> </a:t>
            </a:r>
            <a:r>
              <a:rPr lang="en-US" sz="2200" b="1" dirty="0">
                <a:solidFill>
                  <a:schemeClr val="tx1"/>
                </a:solidFill>
                <a:latin typeface="Times New Roman" panose="02020603050405020304" pitchFamily="18" charset="0"/>
                <a:cs typeface="Times New Roman" panose="02020603050405020304" pitchFamily="18" charset="0"/>
              </a:rPr>
              <a:t>PSLVERR</a:t>
            </a:r>
            <a:r>
              <a:rPr lang="en-US" sz="2200" dirty="0">
                <a:solidFill>
                  <a:schemeClr val="tx1"/>
                </a:solidFill>
                <a:latin typeface="Times New Roman" panose="02020603050405020304" pitchFamily="18" charset="0"/>
                <a:cs typeface="Times New Roman" panose="02020603050405020304" pitchFamily="18" charset="0"/>
              </a:rPr>
              <a:t> is only considered valid during the last cycle of an </a:t>
            </a:r>
            <a:r>
              <a:rPr lang="en-US" sz="2200" b="1" dirty="0">
                <a:solidFill>
                  <a:schemeClr val="tx1"/>
                </a:solidFill>
                <a:latin typeface="Times New Roman" panose="02020603050405020304" pitchFamily="18" charset="0"/>
                <a:cs typeface="Times New Roman" panose="02020603050405020304" pitchFamily="18" charset="0"/>
              </a:rPr>
              <a:t>APB </a:t>
            </a:r>
            <a:r>
              <a:rPr lang="en-US" sz="2200" dirty="0">
                <a:solidFill>
                  <a:schemeClr val="tx1"/>
                </a:solidFill>
                <a:latin typeface="Times New Roman" panose="02020603050405020304" pitchFamily="18" charset="0"/>
                <a:cs typeface="Times New Roman" panose="02020603050405020304" pitchFamily="18" charset="0"/>
              </a:rPr>
              <a:t>transfer, when </a:t>
            </a:r>
            <a:r>
              <a:rPr lang="en-US" sz="2200" b="1" dirty="0">
                <a:solidFill>
                  <a:schemeClr val="tx1"/>
                </a:solidFill>
                <a:latin typeface="Times New Roman" panose="02020603050405020304" pitchFamily="18" charset="0"/>
                <a:cs typeface="Times New Roman" panose="02020603050405020304" pitchFamily="18" charset="0"/>
              </a:rPr>
              <a:t>PSEL</a:t>
            </a:r>
            <a:r>
              <a:rPr lang="en-US" sz="2200" dirty="0">
                <a:solidFill>
                  <a:schemeClr val="tx1"/>
                </a:solidFill>
                <a:latin typeface="Times New Roman" panose="02020603050405020304" pitchFamily="18" charset="0"/>
                <a:cs typeface="Times New Roman" panose="02020603050405020304" pitchFamily="18" charset="0"/>
              </a:rPr>
              <a:t>,</a:t>
            </a:r>
            <a:r>
              <a:rPr lang="en-US" sz="2200" b="1" dirty="0">
                <a:solidFill>
                  <a:schemeClr val="tx1"/>
                </a:solidFill>
                <a:latin typeface="Times New Roman" panose="02020603050405020304" pitchFamily="18" charset="0"/>
                <a:cs typeface="Times New Roman" panose="02020603050405020304" pitchFamily="18" charset="0"/>
              </a:rPr>
              <a:t> PENABLE</a:t>
            </a:r>
            <a:r>
              <a:rPr lang="en-US" sz="2200" dirty="0">
                <a:solidFill>
                  <a:schemeClr val="tx1"/>
                </a:solidFill>
                <a:latin typeface="Times New Roman" panose="02020603050405020304" pitchFamily="18" charset="0"/>
                <a:cs typeface="Times New Roman" panose="02020603050405020304" pitchFamily="18" charset="0"/>
              </a:rPr>
              <a:t>, and</a:t>
            </a:r>
            <a:r>
              <a:rPr lang="en-US" sz="2200" b="1" dirty="0">
                <a:solidFill>
                  <a:schemeClr val="tx1"/>
                </a:solidFill>
                <a:latin typeface="Times New Roman" panose="02020603050405020304" pitchFamily="18" charset="0"/>
                <a:cs typeface="Times New Roman" panose="02020603050405020304" pitchFamily="18" charset="0"/>
              </a:rPr>
              <a:t> PREADY </a:t>
            </a:r>
            <a:r>
              <a:rPr lang="en-US" sz="2200" dirty="0">
                <a:solidFill>
                  <a:schemeClr val="tx1"/>
                </a:solidFill>
                <a:latin typeface="Times New Roman" panose="02020603050405020304" pitchFamily="18" charset="0"/>
                <a:cs typeface="Times New Roman" panose="02020603050405020304" pitchFamily="18" charset="0"/>
              </a:rPr>
              <a:t>are all </a:t>
            </a:r>
            <a:r>
              <a:rPr lang="en-US" sz="2200" b="1" dirty="0">
                <a:solidFill>
                  <a:schemeClr val="tx1"/>
                </a:solidFill>
                <a:latin typeface="Times New Roman" panose="02020603050405020304" pitchFamily="18" charset="0"/>
                <a:cs typeface="Times New Roman" panose="02020603050405020304" pitchFamily="18" charset="0"/>
              </a:rPr>
              <a:t>HIGH</a:t>
            </a:r>
            <a:r>
              <a:rPr lang="en-US" sz="2200" dirty="0">
                <a:solidFill>
                  <a:schemeClr val="tx1"/>
                </a:solidFill>
                <a:latin typeface="Times New Roman" panose="02020603050405020304" pitchFamily="18" charset="0"/>
                <a:cs typeface="Times New Roman" panose="02020603050405020304" pitchFamily="18" charset="0"/>
              </a:rPr>
              <a:t>. </a:t>
            </a:r>
            <a:br>
              <a:rPr lang="en-US" sz="2200" dirty="0">
                <a:solidFill>
                  <a:schemeClr val="tx1"/>
                </a:solidFill>
                <a:latin typeface="Times New Roman" panose="02020603050405020304" pitchFamily="18" charset="0"/>
                <a:cs typeface="Times New Roman" panose="02020603050405020304" pitchFamily="18" charset="0"/>
              </a:rPr>
            </a:br>
            <a:r>
              <a:rPr lang="en-US" sz="2200" dirty="0">
                <a:solidFill>
                  <a:schemeClr val="tx1"/>
                </a:solidFill>
                <a:latin typeface="Times New Roman" panose="02020603050405020304" pitchFamily="18" charset="0"/>
                <a:cs typeface="Times New Roman" panose="02020603050405020304" pitchFamily="18" charset="0"/>
              </a:rPr>
              <a:t>It is recommended, but not required, that</a:t>
            </a:r>
            <a:r>
              <a:rPr lang="en-US" sz="2200" b="1" dirty="0">
                <a:solidFill>
                  <a:schemeClr val="tx1"/>
                </a:solidFill>
                <a:latin typeface="Times New Roman" panose="02020603050405020304" pitchFamily="18" charset="0"/>
                <a:cs typeface="Times New Roman" panose="02020603050405020304" pitchFamily="18" charset="0"/>
              </a:rPr>
              <a:t> PSLVERR </a:t>
            </a:r>
            <a:r>
              <a:rPr lang="en-US" sz="2200" dirty="0">
                <a:solidFill>
                  <a:schemeClr val="tx1"/>
                </a:solidFill>
                <a:latin typeface="Times New Roman" panose="02020603050405020304" pitchFamily="18" charset="0"/>
                <a:cs typeface="Times New Roman" panose="02020603050405020304" pitchFamily="18" charset="0"/>
              </a:rPr>
              <a:t>is driven </a:t>
            </a:r>
            <a:r>
              <a:rPr lang="en-US" sz="2200" b="1" dirty="0">
                <a:solidFill>
                  <a:schemeClr val="tx1"/>
                </a:solidFill>
                <a:latin typeface="Times New Roman" panose="02020603050405020304" pitchFamily="18" charset="0"/>
                <a:cs typeface="Times New Roman" panose="02020603050405020304" pitchFamily="18" charset="0"/>
              </a:rPr>
              <a:t>LOW</a:t>
            </a:r>
            <a:r>
              <a:rPr lang="en-US" sz="2200" dirty="0">
                <a:solidFill>
                  <a:schemeClr val="tx1"/>
                </a:solidFill>
                <a:latin typeface="Times New Roman" panose="02020603050405020304" pitchFamily="18" charset="0"/>
                <a:cs typeface="Times New Roman" panose="02020603050405020304" pitchFamily="18" charset="0"/>
              </a:rPr>
              <a:t> when </a:t>
            </a:r>
            <a:r>
              <a:rPr lang="en-US" sz="2200" b="1" dirty="0">
                <a:solidFill>
                  <a:schemeClr val="tx1"/>
                </a:solidFill>
                <a:latin typeface="Times New Roman" panose="02020603050405020304" pitchFamily="18" charset="0"/>
                <a:cs typeface="Times New Roman" panose="02020603050405020304" pitchFamily="18" charset="0"/>
              </a:rPr>
              <a:t>PSEL, PENABLE</a:t>
            </a:r>
            <a:r>
              <a:rPr lang="en-US" sz="2200" dirty="0">
                <a:solidFill>
                  <a:schemeClr val="tx1"/>
                </a:solidFill>
                <a:latin typeface="Times New Roman" panose="02020603050405020304" pitchFamily="18" charset="0"/>
                <a:cs typeface="Times New Roman" panose="02020603050405020304" pitchFamily="18" charset="0"/>
              </a:rPr>
              <a:t>, or </a:t>
            </a:r>
            <a:r>
              <a:rPr lang="en-US" sz="2200" b="1" dirty="0">
                <a:solidFill>
                  <a:schemeClr val="tx1"/>
                </a:solidFill>
                <a:latin typeface="Times New Roman" panose="02020603050405020304" pitchFamily="18" charset="0"/>
                <a:cs typeface="Times New Roman" panose="02020603050405020304" pitchFamily="18" charset="0"/>
              </a:rPr>
              <a:t>PREADY</a:t>
            </a:r>
            <a:r>
              <a:rPr lang="en-US" sz="2200" dirty="0">
                <a:solidFill>
                  <a:schemeClr val="tx1"/>
                </a:solidFill>
                <a:latin typeface="Times New Roman" panose="02020603050405020304" pitchFamily="18" charset="0"/>
                <a:cs typeface="Times New Roman" panose="02020603050405020304" pitchFamily="18" charset="0"/>
              </a:rPr>
              <a:t> are </a:t>
            </a:r>
            <a:r>
              <a:rPr lang="en-US" sz="2200" b="1" dirty="0">
                <a:solidFill>
                  <a:schemeClr val="tx1"/>
                </a:solidFill>
                <a:latin typeface="Times New Roman" panose="02020603050405020304" pitchFamily="18" charset="0"/>
                <a:cs typeface="Times New Roman" panose="02020603050405020304" pitchFamily="18" charset="0"/>
              </a:rPr>
              <a:t>LOW</a:t>
            </a:r>
            <a:r>
              <a:rPr lang="en-US" sz="2200" dirty="0">
                <a:solidFill>
                  <a:schemeClr val="tx1"/>
                </a:solidFill>
                <a:latin typeface="Times New Roman" panose="02020603050405020304" pitchFamily="18" charset="0"/>
                <a:cs typeface="Times New Roman" panose="02020603050405020304" pitchFamily="18" charset="0"/>
              </a:rPr>
              <a:t>. </a:t>
            </a:r>
            <a:br>
              <a:rPr lang="en-US" sz="2200" dirty="0">
                <a:solidFill>
                  <a:schemeClr val="tx1"/>
                </a:solidFill>
                <a:latin typeface="Times New Roman" panose="02020603050405020304" pitchFamily="18" charset="0"/>
                <a:cs typeface="Times New Roman" panose="02020603050405020304" pitchFamily="18" charset="0"/>
              </a:rPr>
            </a:br>
            <a:r>
              <a:rPr lang="en-US" sz="2200" dirty="0">
                <a:solidFill>
                  <a:schemeClr val="tx1"/>
                </a:solidFill>
                <a:latin typeface="Times New Roman" panose="02020603050405020304" pitchFamily="18" charset="0"/>
                <a:cs typeface="Times New Roman" panose="02020603050405020304" pitchFamily="18" charset="0"/>
              </a:rPr>
              <a:t>Transactions that receive an error might or might not have changed the state of the peripheral. This is peripheral-specific and either state is acceptable. </a:t>
            </a:r>
            <a:br>
              <a:rPr lang="en-US" sz="2200" dirty="0">
                <a:solidFill>
                  <a:schemeClr val="tx1"/>
                </a:solidFill>
                <a:latin typeface="Times New Roman" panose="02020603050405020304" pitchFamily="18" charset="0"/>
                <a:cs typeface="Times New Roman" panose="02020603050405020304" pitchFamily="18" charset="0"/>
              </a:rPr>
            </a:br>
            <a:r>
              <a:rPr lang="en-US" sz="2200" dirty="0">
                <a:solidFill>
                  <a:schemeClr val="tx1"/>
                </a:solidFill>
                <a:latin typeface="Times New Roman" panose="02020603050405020304" pitchFamily="18" charset="0"/>
                <a:cs typeface="Times New Roman" panose="02020603050405020304" pitchFamily="18" charset="0"/>
              </a:rPr>
              <a:t>When a write transaction receives an error, this does not mean that the register within the peripheral has not been updated.</a:t>
            </a:r>
            <a:br>
              <a:rPr lang="en-US" sz="2200" dirty="0">
                <a:solidFill>
                  <a:schemeClr val="tx1"/>
                </a:solidFill>
                <a:latin typeface="Times New Roman" panose="02020603050405020304" pitchFamily="18" charset="0"/>
                <a:cs typeface="Times New Roman" panose="02020603050405020304" pitchFamily="18" charset="0"/>
              </a:rPr>
            </a:br>
            <a:r>
              <a:rPr lang="en-US" sz="2200" dirty="0">
                <a:solidFill>
                  <a:schemeClr val="tx1"/>
                </a:solidFill>
                <a:latin typeface="Times New Roman" panose="02020603050405020304" pitchFamily="18" charset="0"/>
                <a:cs typeface="Times New Roman" panose="02020603050405020304" pitchFamily="18" charset="0"/>
              </a:rPr>
              <a:t> Read transactions that receive an error can return invalid data. There is no requirement for the peripheral to drive the data bus to all 0s for a read error.</a:t>
            </a:r>
            <a:br>
              <a:rPr lang="en-US" sz="2200" dirty="0">
                <a:solidFill>
                  <a:schemeClr val="tx1"/>
                </a:solidFill>
                <a:latin typeface="Times New Roman" panose="02020603050405020304" pitchFamily="18" charset="0"/>
                <a:cs typeface="Times New Roman" panose="02020603050405020304" pitchFamily="18" charset="0"/>
              </a:rPr>
            </a:br>
            <a:r>
              <a:rPr lang="en-US" sz="2200" dirty="0">
                <a:solidFill>
                  <a:schemeClr val="tx1"/>
                </a:solidFill>
                <a:latin typeface="Times New Roman" panose="02020603050405020304" pitchFamily="18" charset="0"/>
                <a:cs typeface="Times New Roman" panose="02020603050405020304" pitchFamily="18" charset="0"/>
              </a:rPr>
              <a:t> A Requester which receives an error response to a read transfer might still use the data.</a:t>
            </a:r>
            <a:br>
              <a:rPr lang="en-US" sz="2200" dirty="0">
                <a:solidFill>
                  <a:schemeClr val="tx1"/>
                </a:solidFill>
                <a:latin typeface="Times New Roman" panose="02020603050405020304" pitchFamily="18" charset="0"/>
                <a:cs typeface="Times New Roman" panose="02020603050405020304" pitchFamily="18" charset="0"/>
              </a:rPr>
            </a:br>
            <a:r>
              <a:rPr lang="en-US" sz="2200" dirty="0">
                <a:solidFill>
                  <a:schemeClr val="tx1"/>
                </a:solidFill>
                <a:latin typeface="Times New Roman" panose="02020603050405020304" pitchFamily="18" charset="0"/>
                <a:cs typeface="Times New Roman" panose="02020603050405020304" pitchFamily="18" charset="0"/>
              </a:rPr>
              <a:t> A Completer cannot rely on the error response to prevent the reading of a value on </a:t>
            </a:r>
            <a:r>
              <a:rPr lang="en-US" sz="2200" b="1" dirty="0">
                <a:solidFill>
                  <a:schemeClr val="tx1"/>
                </a:solidFill>
                <a:latin typeface="Times New Roman" panose="02020603050405020304" pitchFamily="18" charset="0"/>
                <a:cs typeface="Times New Roman" panose="02020603050405020304" pitchFamily="18" charset="0"/>
              </a:rPr>
              <a:t>PRDATA</a:t>
            </a:r>
            <a:r>
              <a:rPr lang="en-US" sz="2200" dirty="0">
                <a:solidFill>
                  <a:schemeClr val="tx1"/>
                </a:solidFill>
                <a:latin typeface="Times New Roman" panose="02020603050405020304" pitchFamily="18" charset="0"/>
                <a:cs typeface="Times New Roman" panose="02020603050405020304" pitchFamily="18" charset="0"/>
              </a:rPr>
              <a:t>.</a:t>
            </a:r>
            <a:br>
              <a:rPr lang="en-US" sz="2200" dirty="0">
                <a:solidFill>
                  <a:schemeClr val="tx1"/>
                </a:solidFill>
                <a:latin typeface="Times New Roman" panose="02020603050405020304" pitchFamily="18" charset="0"/>
                <a:cs typeface="Times New Roman" panose="02020603050405020304" pitchFamily="18" charset="0"/>
              </a:rPr>
            </a:br>
            <a:r>
              <a:rPr lang="en-US" sz="2200" dirty="0">
                <a:solidFill>
                  <a:schemeClr val="tx1"/>
                </a:solidFill>
                <a:latin typeface="Times New Roman" panose="02020603050405020304" pitchFamily="18" charset="0"/>
                <a:cs typeface="Times New Roman" panose="02020603050405020304" pitchFamily="18" charset="0"/>
              </a:rPr>
              <a:t> Completers are not required to support </a:t>
            </a:r>
            <a:r>
              <a:rPr lang="en-US" sz="2200" b="1" dirty="0">
                <a:solidFill>
                  <a:schemeClr val="tx1"/>
                </a:solidFill>
                <a:latin typeface="Times New Roman" panose="02020603050405020304" pitchFamily="18" charset="0"/>
                <a:cs typeface="Times New Roman" panose="02020603050405020304" pitchFamily="18" charset="0"/>
              </a:rPr>
              <a:t>PSLVERR</a:t>
            </a:r>
            <a:r>
              <a:rPr lang="en-US" sz="2200" dirty="0">
                <a:solidFill>
                  <a:schemeClr val="tx1"/>
                </a:solidFill>
                <a:latin typeface="Times New Roman" panose="02020603050405020304" pitchFamily="18" charset="0"/>
                <a:cs typeface="Times New Roman" panose="02020603050405020304" pitchFamily="18" charset="0"/>
              </a:rPr>
              <a:t>. Where a Peripheral does not include </a:t>
            </a:r>
            <a:r>
              <a:rPr lang="en-US" sz="2200" b="1" dirty="0">
                <a:solidFill>
                  <a:schemeClr val="tx1"/>
                </a:solidFill>
                <a:latin typeface="Times New Roman" panose="02020603050405020304" pitchFamily="18" charset="0"/>
                <a:cs typeface="Times New Roman" panose="02020603050405020304" pitchFamily="18" charset="0"/>
              </a:rPr>
              <a:t>PSLVERR</a:t>
            </a:r>
            <a:r>
              <a:rPr lang="en-US" sz="2200" dirty="0">
                <a:solidFill>
                  <a:schemeClr val="tx1"/>
                </a:solidFill>
                <a:latin typeface="Times New Roman" panose="02020603050405020304" pitchFamily="18" charset="0"/>
                <a:cs typeface="Times New Roman" panose="02020603050405020304" pitchFamily="18" charset="0"/>
              </a:rPr>
              <a:t>, the appropriate input to the Requester is tied </a:t>
            </a:r>
            <a:r>
              <a:rPr lang="en-US" sz="2200" b="1" dirty="0">
                <a:solidFill>
                  <a:schemeClr val="tx1"/>
                </a:solidFill>
                <a:latin typeface="Times New Roman" panose="02020603050405020304" pitchFamily="18" charset="0"/>
                <a:cs typeface="Times New Roman" panose="02020603050405020304" pitchFamily="18" charset="0"/>
              </a:rPr>
              <a:t>LOW</a:t>
            </a:r>
            <a:r>
              <a:rPr lang="en-US" sz="2200" dirty="0">
                <a:solidFill>
                  <a:schemeClr val="tx1"/>
                </a:solidFill>
                <a:latin typeface="Times New Roman" panose="02020603050405020304" pitchFamily="18" charset="0"/>
                <a:cs typeface="Times New Roman" panose="02020603050405020304" pitchFamily="18" charset="0"/>
              </a:rPr>
              <a:t>.</a:t>
            </a:r>
            <a:br>
              <a:rPr lang="en-US" sz="2200" dirty="0">
                <a:solidFill>
                  <a:schemeClr val="tx1"/>
                </a:solidFill>
                <a:latin typeface="Times New Roman" panose="02020603050405020304" pitchFamily="18" charset="0"/>
                <a:cs typeface="Times New Roman" panose="02020603050405020304" pitchFamily="18" charset="0"/>
              </a:rPr>
            </a:br>
            <a:br>
              <a:rPr lang="en-US" sz="2200" dirty="0">
                <a:solidFill>
                  <a:schemeClr val="tx1"/>
                </a:solidFill>
                <a:latin typeface="Times New Roman" panose="02020603050405020304" pitchFamily="18" charset="0"/>
                <a:cs typeface="Times New Roman" panose="02020603050405020304" pitchFamily="18" charset="0"/>
              </a:rPr>
            </a:br>
            <a:endParaRPr lang="en-IN"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5085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051D0-276F-A2CC-ADE9-5DC8EA22A9B1}"/>
              </a:ext>
            </a:extLst>
          </p:cNvPr>
          <p:cNvSpPr>
            <a:spLocks noGrp="1"/>
          </p:cNvSpPr>
          <p:nvPr>
            <p:ph type="title"/>
          </p:nvPr>
        </p:nvSpPr>
        <p:spPr>
          <a:xfrm>
            <a:off x="677334" y="609600"/>
            <a:ext cx="10503284" cy="6040582"/>
          </a:xfrm>
        </p:spPr>
        <p:txBody>
          <a:bodyPr/>
          <a:lstStyle/>
          <a:p>
            <a:r>
              <a:rPr lang="en-US" dirty="0"/>
              <a:t>Write transfer error:</a:t>
            </a:r>
            <a:br>
              <a:rPr lang="en-US" dirty="0"/>
            </a:br>
            <a:r>
              <a:rPr lang="en-US" dirty="0"/>
              <a:t> </a:t>
            </a:r>
            <a:r>
              <a:rPr lang="en-US" sz="2000" dirty="0">
                <a:solidFill>
                  <a:schemeClr val="tx1"/>
                </a:solidFill>
                <a:latin typeface="Times New Roman" panose="02020603050405020304" pitchFamily="18" charset="0"/>
                <a:cs typeface="Times New Roman" panose="02020603050405020304" pitchFamily="18" charset="0"/>
              </a:rPr>
              <a:t>An example of a failing write transfer that completes with an error.</a:t>
            </a:r>
            <a:br>
              <a:rPr lang="en-US" dirty="0"/>
            </a:br>
            <a:endParaRPr lang="en-IN" dirty="0"/>
          </a:p>
        </p:txBody>
      </p:sp>
      <p:pic>
        <p:nvPicPr>
          <p:cNvPr id="4" name="Picture 3">
            <a:extLst>
              <a:ext uri="{FF2B5EF4-FFF2-40B4-BE49-F238E27FC236}">
                <a16:creationId xmlns:a16="http://schemas.microsoft.com/office/drawing/2014/main" id="{082C340A-DFD4-B76F-0C17-DDA7954302D1}"/>
              </a:ext>
            </a:extLst>
          </p:cNvPr>
          <p:cNvPicPr>
            <a:picLocks noChangeAspect="1"/>
          </p:cNvPicPr>
          <p:nvPr/>
        </p:nvPicPr>
        <p:blipFill>
          <a:blip r:embed="rId2"/>
          <a:stretch>
            <a:fillRect/>
          </a:stretch>
        </p:blipFill>
        <p:spPr>
          <a:xfrm>
            <a:off x="3241964" y="2286000"/>
            <a:ext cx="5146530" cy="2947121"/>
          </a:xfrm>
          <a:prstGeom prst="rect">
            <a:avLst/>
          </a:prstGeom>
        </p:spPr>
      </p:pic>
      <p:sp>
        <p:nvSpPr>
          <p:cNvPr id="6" name="TextBox 5">
            <a:extLst>
              <a:ext uri="{FF2B5EF4-FFF2-40B4-BE49-F238E27FC236}">
                <a16:creationId xmlns:a16="http://schemas.microsoft.com/office/drawing/2014/main" id="{C40E20F1-9976-F67A-ADBA-2B532A59816A}"/>
              </a:ext>
            </a:extLst>
          </p:cNvPr>
          <p:cNvSpPr txBox="1"/>
          <p:nvPr/>
        </p:nvSpPr>
        <p:spPr>
          <a:xfrm>
            <a:off x="4516582" y="5387653"/>
            <a:ext cx="6131742" cy="369332"/>
          </a:xfrm>
          <a:prstGeom prst="rect">
            <a:avLst/>
          </a:prstGeom>
          <a:noFill/>
        </p:spPr>
        <p:txBody>
          <a:bodyPr wrap="square">
            <a:spAutoFit/>
          </a:bodyPr>
          <a:lstStyle/>
          <a:p>
            <a:r>
              <a:rPr lang="en-IN" dirty="0"/>
              <a:t>Example of failing write transfer</a:t>
            </a:r>
          </a:p>
        </p:txBody>
      </p:sp>
    </p:spTree>
    <p:extLst>
      <p:ext uri="{BB962C8B-B14F-4D97-AF65-F5344CB8AC3E}">
        <p14:creationId xmlns:p14="http://schemas.microsoft.com/office/powerpoint/2010/main" val="2157605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F6362-63DF-5791-512F-99321A113084}"/>
              </a:ext>
            </a:extLst>
          </p:cNvPr>
          <p:cNvSpPr>
            <a:spLocks noGrp="1"/>
          </p:cNvSpPr>
          <p:nvPr>
            <p:ph type="title"/>
          </p:nvPr>
        </p:nvSpPr>
        <p:spPr>
          <a:xfrm>
            <a:off x="677334" y="609599"/>
            <a:ext cx="9949102" cy="5957455"/>
          </a:xfrm>
        </p:spPr>
        <p:txBody>
          <a:bodyPr/>
          <a:lstStyle/>
          <a:p>
            <a:r>
              <a:rPr lang="en-US" dirty="0">
                <a:latin typeface="Times New Roman" panose="02020603050405020304" pitchFamily="18" charset="0"/>
                <a:cs typeface="Times New Roman" panose="02020603050405020304" pitchFamily="18" charset="0"/>
              </a:rPr>
              <a:t>Read transfer error:</a:t>
            </a:r>
            <a:br>
              <a:rPr lang="en-US" dirty="0">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A read transfer can also complete with an error response, indicating that there is no valid read data available.</a:t>
            </a:r>
            <a:endParaRPr lang="en-IN" sz="200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3BD3646-363F-D8EA-FF3C-CDA1C02C0FE8}"/>
              </a:ext>
            </a:extLst>
          </p:cNvPr>
          <p:cNvPicPr>
            <a:picLocks noChangeAspect="1"/>
          </p:cNvPicPr>
          <p:nvPr/>
        </p:nvPicPr>
        <p:blipFill>
          <a:blip r:embed="rId2"/>
          <a:stretch>
            <a:fillRect/>
          </a:stretch>
        </p:blipFill>
        <p:spPr>
          <a:xfrm>
            <a:off x="2307213" y="2143125"/>
            <a:ext cx="5305425" cy="2571750"/>
          </a:xfrm>
          <a:prstGeom prst="rect">
            <a:avLst/>
          </a:prstGeom>
        </p:spPr>
      </p:pic>
      <p:sp>
        <p:nvSpPr>
          <p:cNvPr id="6" name="TextBox 5">
            <a:extLst>
              <a:ext uri="{FF2B5EF4-FFF2-40B4-BE49-F238E27FC236}">
                <a16:creationId xmlns:a16="http://schemas.microsoft.com/office/drawing/2014/main" id="{AD5ADE94-737A-EB4F-C4D4-6A866CC732CE}"/>
              </a:ext>
            </a:extLst>
          </p:cNvPr>
          <p:cNvSpPr txBox="1"/>
          <p:nvPr/>
        </p:nvSpPr>
        <p:spPr>
          <a:xfrm>
            <a:off x="3688773" y="5086966"/>
            <a:ext cx="6102926" cy="369332"/>
          </a:xfrm>
          <a:prstGeom prst="rect">
            <a:avLst/>
          </a:prstGeom>
          <a:noFill/>
        </p:spPr>
        <p:txBody>
          <a:bodyPr wrap="square">
            <a:spAutoFit/>
          </a:bodyPr>
          <a:lstStyle/>
          <a:p>
            <a:r>
              <a:rPr lang="en-IN" dirty="0"/>
              <a:t>Example failing read transfer</a:t>
            </a:r>
          </a:p>
        </p:txBody>
      </p:sp>
    </p:spTree>
    <p:extLst>
      <p:ext uri="{BB962C8B-B14F-4D97-AF65-F5344CB8AC3E}">
        <p14:creationId xmlns:p14="http://schemas.microsoft.com/office/powerpoint/2010/main" val="34535794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6A354AC-730C-72EC-6FA8-5654926A02B4}"/>
              </a:ext>
            </a:extLst>
          </p:cNvPr>
          <p:cNvGrpSpPr/>
          <p:nvPr/>
        </p:nvGrpSpPr>
        <p:grpSpPr>
          <a:xfrm>
            <a:off x="1744599" y="981075"/>
            <a:ext cx="9018651" cy="5385815"/>
            <a:chOff x="1106424" y="-32746"/>
            <a:chExt cx="10104120" cy="6561561"/>
          </a:xfrm>
        </p:grpSpPr>
        <p:sp>
          <p:nvSpPr>
            <p:cNvPr id="4" name="Rectangle: Rounded Corners 3">
              <a:extLst>
                <a:ext uri="{FF2B5EF4-FFF2-40B4-BE49-F238E27FC236}">
                  <a16:creationId xmlns:a16="http://schemas.microsoft.com/office/drawing/2014/main" id="{91120B53-B741-B976-B502-B7B8280F0A6C}"/>
                </a:ext>
              </a:extLst>
            </p:cNvPr>
            <p:cNvSpPr/>
            <p:nvPr/>
          </p:nvSpPr>
          <p:spPr>
            <a:xfrm>
              <a:off x="1106424" y="-32746"/>
              <a:ext cx="10104120" cy="6561561"/>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0340C2BB-ACAA-9D1F-D356-8D43D44626D5}"/>
                </a:ext>
              </a:extLst>
            </p:cNvPr>
            <p:cNvSpPr/>
            <p:nvPr/>
          </p:nvSpPr>
          <p:spPr>
            <a:xfrm>
              <a:off x="1391194" y="301974"/>
              <a:ext cx="7385739" cy="456111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dirty="0"/>
            </a:p>
          </p:txBody>
        </p:sp>
        <p:sp>
          <p:nvSpPr>
            <p:cNvPr id="6" name="Rectangle: Rounded Corners 5">
              <a:extLst>
                <a:ext uri="{FF2B5EF4-FFF2-40B4-BE49-F238E27FC236}">
                  <a16:creationId xmlns:a16="http://schemas.microsoft.com/office/drawing/2014/main" id="{B84FE9B2-78B1-8891-9867-4086C9BFAF6E}"/>
                </a:ext>
              </a:extLst>
            </p:cNvPr>
            <p:cNvSpPr/>
            <p:nvPr/>
          </p:nvSpPr>
          <p:spPr>
            <a:xfrm>
              <a:off x="3488436" y="655992"/>
              <a:ext cx="5006340" cy="396952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dirty="0"/>
            </a:p>
          </p:txBody>
        </p:sp>
        <p:sp>
          <p:nvSpPr>
            <p:cNvPr id="7" name="Rectangle: Rounded Corners 6">
              <a:extLst>
                <a:ext uri="{FF2B5EF4-FFF2-40B4-BE49-F238E27FC236}">
                  <a16:creationId xmlns:a16="http://schemas.microsoft.com/office/drawing/2014/main" id="{AEC390C1-A955-A4DB-3219-D252323DC16D}"/>
                </a:ext>
              </a:extLst>
            </p:cNvPr>
            <p:cNvSpPr/>
            <p:nvPr/>
          </p:nvSpPr>
          <p:spPr>
            <a:xfrm>
              <a:off x="1600200" y="1252728"/>
              <a:ext cx="1627632" cy="61874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b="1" dirty="0" err="1"/>
                <a:t>apb_seq_item</a:t>
              </a:r>
              <a:endParaRPr lang="en-IN" sz="1400" b="1" dirty="0"/>
            </a:p>
          </p:txBody>
        </p:sp>
        <p:sp>
          <p:nvSpPr>
            <p:cNvPr id="8" name="Rectangle: Rounded Corners 7">
              <a:extLst>
                <a:ext uri="{FF2B5EF4-FFF2-40B4-BE49-F238E27FC236}">
                  <a16:creationId xmlns:a16="http://schemas.microsoft.com/office/drawing/2014/main" id="{02D46FBA-93F2-1967-C7E9-F324FA1E8A3D}"/>
                </a:ext>
              </a:extLst>
            </p:cNvPr>
            <p:cNvSpPr/>
            <p:nvPr/>
          </p:nvSpPr>
          <p:spPr>
            <a:xfrm>
              <a:off x="1480021" y="3233930"/>
              <a:ext cx="1816391" cy="69799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b="1" dirty="0" err="1"/>
                <a:t>apb_sequence</a:t>
              </a:r>
              <a:endParaRPr lang="en-IN" sz="1400" b="1" dirty="0"/>
            </a:p>
          </p:txBody>
        </p:sp>
        <p:sp>
          <p:nvSpPr>
            <p:cNvPr id="9" name="Rectangle: Rounded Corners 8">
              <a:extLst>
                <a:ext uri="{FF2B5EF4-FFF2-40B4-BE49-F238E27FC236}">
                  <a16:creationId xmlns:a16="http://schemas.microsoft.com/office/drawing/2014/main" id="{4839B35B-5189-861F-BE59-3311E0B67379}"/>
                </a:ext>
              </a:extLst>
            </p:cNvPr>
            <p:cNvSpPr/>
            <p:nvPr/>
          </p:nvSpPr>
          <p:spPr>
            <a:xfrm>
              <a:off x="3913632" y="2003407"/>
              <a:ext cx="4261104" cy="2362199"/>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C951A36D-544A-0A0C-7662-F4812F73B388}"/>
                </a:ext>
              </a:extLst>
            </p:cNvPr>
            <p:cNvSpPr/>
            <p:nvPr/>
          </p:nvSpPr>
          <p:spPr>
            <a:xfrm>
              <a:off x="4255442" y="2249532"/>
              <a:ext cx="1412747" cy="78801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b="1" dirty="0" err="1"/>
                <a:t>apb_seqr</a:t>
              </a:r>
              <a:endParaRPr lang="en-IN" sz="1600" b="1" dirty="0"/>
            </a:p>
          </p:txBody>
        </p:sp>
        <p:sp>
          <p:nvSpPr>
            <p:cNvPr id="11" name="Rectangle: Rounded Corners 10">
              <a:extLst>
                <a:ext uri="{FF2B5EF4-FFF2-40B4-BE49-F238E27FC236}">
                  <a16:creationId xmlns:a16="http://schemas.microsoft.com/office/drawing/2014/main" id="{D24C0590-265D-1F44-38BC-61A297A8558D}"/>
                </a:ext>
              </a:extLst>
            </p:cNvPr>
            <p:cNvSpPr/>
            <p:nvPr/>
          </p:nvSpPr>
          <p:spPr>
            <a:xfrm>
              <a:off x="6270495" y="2750004"/>
              <a:ext cx="1400558" cy="78801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b="1" dirty="0" err="1"/>
                <a:t>apb_mon</a:t>
              </a:r>
              <a:endParaRPr lang="en-IN" sz="1600" b="1" dirty="0"/>
            </a:p>
          </p:txBody>
        </p:sp>
        <p:sp>
          <p:nvSpPr>
            <p:cNvPr id="12" name="Rectangle: Rounded Corners 11">
              <a:extLst>
                <a:ext uri="{FF2B5EF4-FFF2-40B4-BE49-F238E27FC236}">
                  <a16:creationId xmlns:a16="http://schemas.microsoft.com/office/drawing/2014/main" id="{7EF6395C-0414-7FDB-6712-950B18EEB3F3}"/>
                </a:ext>
              </a:extLst>
            </p:cNvPr>
            <p:cNvSpPr/>
            <p:nvPr/>
          </p:nvSpPr>
          <p:spPr>
            <a:xfrm>
              <a:off x="4255442" y="3397814"/>
              <a:ext cx="1511369" cy="78801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b="1" dirty="0" err="1"/>
                <a:t>apb_driver</a:t>
              </a:r>
              <a:endParaRPr lang="en-IN" sz="1600" b="1" dirty="0"/>
            </a:p>
          </p:txBody>
        </p:sp>
        <p:sp>
          <p:nvSpPr>
            <p:cNvPr id="13" name="Arrow: Left-Right 12">
              <a:extLst>
                <a:ext uri="{FF2B5EF4-FFF2-40B4-BE49-F238E27FC236}">
                  <a16:creationId xmlns:a16="http://schemas.microsoft.com/office/drawing/2014/main" id="{46CBA158-9A6F-700A-33B4-A32C50FD805E}"/>
                </a:ext>
              </a:extLst>
            </p:cNvPr>
            <p:cNvSpPr/>
            <p:nvPr/>
          </p:nvSpPr>
          <p:spPr>
            <a:xfrm>
              <a:off x="1915668" y="5100664"/>
              <a:ext cx="6336792" cy="610906"/>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apb_interface</a:t>
              </a:r>
              <a:endParaRPr lang="en-IN" dirty="0"/>
            </a:p>
          </p:txBody>
        </p:sp>
        <p:sp>
          <p:nvSpPr>
            <p:cNvPr id="14" name="Rectangle: Rounded Corners 13">
              <a:extLst>
                <a:ext uri="{FF2B5EF4-FFF2-40B4-BE49-F238E27FC236}">
                  <a16:creationId xmlns:a16="http://schemas.microsoft.com/office/drawing/2014/main" id="{1B1E3E46-0E11-9BE1-9428-3924663EF2D0}"/>
                </a:ext>
              </a:extLst>
            </p:cNvPr>
            <p:cNvSpPr/>
            <p:nvPr/>
          </p:nvSpPr>
          <p:spPr>
            <a:xfrm>
              <a:off x="3614218" y="5850445"/>
              <a:ext cx="2695194" cy="53949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err="1"/>
                <a:t>apb_rtl</a:t>
              </a:r>
              <a:endParaRPr lang="en-IN" b="1" dirty="0"/>
            </a:p>
          </p:txBody>
        </p:sp>
        <p:sp>
          <p:nvSpPr>
            <p:cNvPr id="15" name="Rectangle: Rounded Corners 14">
              <a:extLst>
                <a:ext uri="{FF2B5EF4-FFF2-40B4-BE49-F238E27FC236}">
                  <a16:creationId xmlns:a16="http://schemas.microsoft.com/office/drawing/2014/main" id="{933A3E62-EEB7-DB54-E183-AFF7D1ADA8BC}"/>
                </a:ext>
              </a:extLst>
            </p:cNvPr>
            <p:cNvSpPr/>
            <p:nvPr/>
          </p:nvSpPr>
          <p:spPr>
            <a:xfrm>
              <a:off x="6309411" y="994953"/>
              <a:ext cx="1943047" cy="78801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b="1" dirty="0" err="1"/>
                <a:t>apb_scoreboard</a:t>
              </a:r>
              <a:endParaRPr lang="en-IN" sz="1400" b="1" dirty="0"/>
            </a:p>
          </p:txBody>
        </p:sp>
        <p:sp>
          <p:nvSpPr>
            <p:cNvPr id="16" name="Rectangle: Rounded Corners 15">
              <a:extLst>
                <a:ext uri="{FF2B5EF4-FFF2-40B4-BE49-F238E27FC236}">
                  <a16:creationId xmlns:a16="http://schemas.microsoft.com/office/drawing/2014/main" id="{D469D9B9-5180-8EBF-6015-0ED7D4838008}"/>
                </a:ext>
              </a:extLst>
            </p:cNvPr>
            <p:cNvSpPr/>
            <p:nvPr/>
          </p:nvSpPr>
          <p:spPr>
            <a:xfrm>
              <a:off x="3913633" y="984885"/>
              <a:ext cx="1853178" cy="78801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b="1" dirty="0" err="1"/>
                <a:t>apb_subscriber</a:t>
              </a:r>
              <a:endParaRPr lang="en-IN" sz="1400" b="1" dirty="0"/>
            </a:p>
          </p:txBody>
        </p:sp>
        <p:sp>
          <p:nvSpPr>
            <p:cNvPr id="17" name="Rectangle 16">
              <a:extLst>
                <a:ext uri="{FF2B5EF4-FFF2-40B4-BE49-F238E27FC236}">
                  <a16:creationId xmlns:a16="http://schemas.microsoft.com/office/drawing/2014/main" id="{8BD13D09-5655-9C55-3D0B-2B22352844DF}"/>
                </a:ext>
              </a:extLst>
            </p:cNvPr>
            <p:cNvSpPr/>
            <p:nvPr/>
          </p:nvSpPr>
          <p:spPr>
            <a:xfrm>
              <a:off x="4865803" y="3333806"/>
              <a:ext cx="192024" cy="1402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390191A5-40C5-5CC5-9515-0FD49DA59E08}"/>
                </a:ext>
              </a:extLst>
            </p:cNvPr>
            <p:cNvSpPr/>
            <p:nvPr/>
          </p:nvSpPr>
          <p:spPr>
            <a:xfrm>
              <a:off x="4868193" y="2946108"/>
              <a:ext cx="171346" cy="14020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 name="Straight Connector 18">
              <a:extLst>
                <a:ext uri="{FF2B5EF4-FFF2-40B4-BE49-F238E27FC236}">
                  <a16:creationId xmlns:a16="http://schemas.microsoft.com/office/drawing/2014/main" id="{677377E9-4C8B-DC4E-D656-D91F5ACE889F}"/>
                </a:ext>
              </a:extLst>
            </p:cNvPr>
            <p:cNvCxnSpPr>
              <a:cxnSpLocks/>
            </p:cNvCxnSpPr>
            <p:nvPr/>
          </p:nvCxnSpPr>
          <p:spPr>
            <a:xfrm flipV="1">
              <a:off x="4961815" y="3086315"/>
              <a:ext cx="0" cy="2474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Flowchart: Decision 19">
              <a:extLst>
                <a:ext uri="{FF2B5EF4-FFF2-40B4-BE49-F238E27FC236}">
                  <a16:creationId xmlns:a16="http://schemas.microsoft.com/office/drawing/2014/main" id="{6B2F8675-BFC6-A946-01C0-F0000172F15C}"/>
                </a:ext>
              </a:extLst>
            </p:cNvPr>
            <p:cNvSpPr/>
            <p:nvPr/>
          </p:nvSpPr>
          <p:spPr>
            <a:xfrm>
              <a:off x="6869481" y="2691000"/>
              <a:ext cx="146304" cy="196104"/>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282D9EDF-06B4-9D8B-DA13-911B2B39F5BF}"/>
                </a:ext>
              </a:extLst>
            </p:cNvPr>
            <p:cNvSpPr/>
            <p:nvPr/>
          </p:nvSpPr>
          <p:spPr>
            <a:xfrm>
              <a:off x="4642857" y="1702131"/>
              <a:ext cx="171346" cy="14020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3CCCC965-6308-3A9A-F2F3-9AE34A4041D9}"/>
                </a:ext>
              </a:extLst>
            </p:cNvPr>
            <p:cNvSpPr/>
            <p:nvPr/>
          </p:nvSpPr>
          <p:spPr>
            <a:xfrm>
              <a:off x="6856960" y="1694605"/>
              <a:ext cx="171346" cy="14020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3" name="Connector: Elbow 22">
              <a:extLst>
                <a:ext uri="{FF2B5EF4-FFF2-40B4-BE49-F238E27FC236}">
                  <a16:creationId xmlns:a16="http://schemas.microsoft.com/office/drawing/2014/main" id="{4151BDE3-9D41-6ADC-6876-A34D27B34A2C}"/>
                </a:ext>
              </a:extLst>
            </p:cNvPr>
            <p:cNvCxnSpPr>
              <a:cxnSpLocks/>
              <a:stCxn id="20" idx="2"/>
              <a:endCxn id="21" idx="6"/>
            </p:cNvCxnSpPr>
            <p:nvPr/>
          </p:nvCxnSpPr>
          <p:spPr>
            <a:xfrm rot="5400000" flipH="1">
              <a:off x="5320983" y="1265455"/>
              <a:ext cx="1114869" cy="2128430"/>
            </a:xfrm>
            <a:prstGeom prst="bentConnector4">
              <a:avLst>
                <a:gd name="adj1" fmla="val -6357"/>
                <a:gd name="adj2" fmla="val 51718"/>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782505B-3E76-E862-925B-11C4C416FCB4}"/>
                </a:ext>
              </a:extLst>
            </p:cNvPr>
            <p:cNvCxnSpPr>
              <a:cxnSpLocks/>
            </p:cNvCxnSpPr>
            <p:nvPr/>
          </p:nvCxnSpPr>
          <p:spPr>
            <a:xfrm flipV="1">
              <a:off x="6942633" y="1851482"/>
              <a:ext cx="0" cy="8486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7F60763-8CF7-FD69-6789-63AD4F15A0AC}"/>
                </a:ext>
              </a:extLst>
            </p:cNvPr>
            <p:cNvCxnSpPr>
              <a:cxnSpLocks/>
              <a:stCxn id="12" idx="2"/>
            </p:cNvCxnSpPr>
            <p:nvPr/>
          </p:nvCxnSpPr>
          <p:spPr>
            <a:xfrm flipH="1">
              <a:off x="5011126" y="4185830"/>
              <a:ext cx="1" cy="106282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6" name="Straight Arrow Connector 25">
              <a:extLst>
                <a:ext uri="{FF2B5EF4-FFF2-40B4-BE49-F238E27FC236}">
                  <a16:creationId xmlns:a16="http://schemas.microsoft.com/office/drawing/2014/main" id="{7C651987-F6CA-28BD-D944-D96AA821E924}"/>
                </a:ext>
              </a:extLst>
            </p:cNvPr>
            <p:cNvCxnSpPr>
              <a:cxnSpLocks/>
            </p:cNvCxnSpPr>
            <p:nvPr/>
          </p:nvCxnSpPr>
          <p:spPr>
            <a:xfrm flipV="1">
              <a:off x="6970774" y="3549613"/>
              <a:ext cx="597" cy="169904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Straight Arrow Connector 26">
              <a:extLst>
                <a:ext uri="{FF2B5EF4-FFF2-40B4-BE49-F238E27FC236}">
                  <a16:creationId xmlns:a16="http://schemas.microsoft.com/office/drawing/2014/main" id="{5FE5A05C-A8F1-88EE-A757-0D23B7FAB48D}"/>
                </a:ext>
              </a:extLst>
            </p:cNvPr>
            <p:cNvCxnSpPr>
              <a:cxnSpLocks/>
            </p:cNvCxnSpPr>
            <p:nvPr/>
          </p:nvCxnSpPr>
          <p:spPr>
            <a:xfrm flipV="1">
              <a:off x="5860213" y="5541264"/>
              <a:ext cx="0" cy="33313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Straight Arrow Connector 27">
              <a:extLst>
                <a:ext uri="{FF2B5EF4-FFF2-40B4-BE49-F238E27FC236}">
                  <a16:creationId xmlns:a16="http://schemas.microsoft.com/office/drawing/2014/main" id="{A70259CD-9CA1-1483-5FBC-DB9EF7C6D601}"/>
                </a:ext>
              </a:extLst>
            </p:cNvPr>
            <p:cNvCxnSpPr>
              <a:cxnSpLocks/>
            </p:cNvCxnSpPr>
            <p:nvPr/>
          </p:nvCxnSpPr>
          <p:spPr>
            <a:xfrm>
              <a:off x="4134282" y="5550408"/>
              <a:ext cx="0" cy="31832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9" name="TextBox 28">
              <a:extLst>
                <a:ext uri="{FF2B5EF4-FFF2-40B4-BE49-F238E27FC236}">
                  <a16:creationId xmlns:a16="http://schemas.microsoft.com/office/drawing/2014/main" id="{85A0CFBC-7148-8D13-B0DD-431EEAFE9FB1}"/>
                </a:ext>
              </a:extLst>
            </p:cNvPr>
            <p:cNvSpPr txBox="1"/>
            <p:nvPr/>
          </p:nvSpPr>
          <p:spPr>
            <a:xfrm>
              <a:off x="7102566" y="620797"/>
              <a:ext cx="1476420" cy="338554"/>
            </a:xfrm>
            <a:prstGeom prst="rect">
              <a:avLst/>
            </a:prstGeom>
            <a:noFill/>
          </p:spPr>
          <p:txBody>
            <a:bodyPr wrap="square" rtlCol="0">
              <a:spAutoFit/>
            </a:bodyPr>
            <a:lstStyle/>
            <a:p>
              <a:r>
                <a:rPr lang="en-US" sz="1600" b="1" dirty="0" err="1"/>
                <a:t>apb_env</a:t>
              </a:r>
              <a:endParaRPr lang="en-IN" sz="1600" b="1" dirty="0"/>
            </a:p>
          </p:txBody>
        </p:sp>
        <p:sp>
          <p:nvSpPr>
            <p:cNvPr id="30" name="TextBox 29">
              <a:extLst>
                <a:ext uri="{FF2B5EF4-FFF2-40B4-BE49-F238E27FC236}">
                  <a16:creationId xmlns:a16="http://schemas.microsoft.com/office/drawing/2014/main" id="{64CCB7F8-5306-96BC-6922-AE7BC7207CFC}"/>
                </a:ext>
              </a:extLst>
            </p:cNvPr>
            <p:cNvSpPr txBox="1"/>
            <p:nvPr/>
          </p:nvSpPr>
          <p:spPr>
            <a:xfrm>
              <a:off x="7419789" y="317343"/>
              <a:ext cx="1159197" cy="338554"/>
            </a:xfrm>
            <a:prstGeom prst="rect">
              <a:avLst/>
            </a:prstGeom>
            <a:noFill/>
          </p:spPr>
          <p:txBody>
            <a:bodyPr wrap="square" rtlCol="0">
              <a:spAutoFit/>
            </a:bodyPr>
            <a:lstStyle/>
            <a:p>
              <a:r>
                <a:rPr lang="en-US" sz="1600" b="1" dirty="0" err="1"/>
                <a:t>apb_test</a:t>
              </a:r>
              <a:endParaRPr lang="en-IN" sz="1600" b="1" dirty="0"/>
            </a:p>
          </p:txBody>
        </p:sp>
        <p:sp>
          <p:nvSpPr>
            <p:cNvPr id="31" name="TextBox 30">
              <a:extLst>
                <a:ext uri="{FF2B5EF4-FFF2-40B4-BE49-F238E27FC236}">
                  <a16:creationId xmlns:a16="http://schemas.microsoft.com/office/drawing/2014/main" id="{4296E310-4951-ECDB-F42D-9246E330E319}"/>
                </a:ext>
              </a:extLst>
            </p:cNvPr>
            <p:cNvSpPr txBox="1"/>
            <p:nvPr/>
          </p:nvSpPr>
          <p:spPr>
            <a:xfrm>
              <a:off x="7617735" y="-32745"/>
              <a:ext cx="1159197" cy="338554"/>
            </a:xfrm>
            <a:prstGeom prst="rect">
              <a:avLst/>
            </a:prstGeom>
            <a:noFill/>
          </p:spPr>
          <p:txBody>
            <a:bodyPr wrap="square" rtlCol="0">
              <a:spAutoFit/>
            </a:bodyPr>
            <a:lstStyle/>
            <a:p>
              <a:r>
                <a:rPr lang="en-US" sz="1600" b="1" dirty="0" err="1"/>
                <a:t>apb_top</a:t>
              </a:r>
              <a:endParaRPr lang="en-IN" sz="1600" b="1" dirty="0"/>
            </a:p>
          </p:txBody>
        </p:sp>
        <p:sp>
          <p:nvSpPr>
            <p:cNvPr id="32" name="Rectangle 31">
              <a:extLst>
                <a:ext uri="{FF2B5EF4-FFF2-40B4-BE49-F238E27FC236}">
                  <a16:creationId xmlns:a16="http://schemas.microsoft.com/office/drawing/2014/main" id="{3306C147-3F93-8D80-E7C8-6982C7D80F97}"/>
                </a:ext>
              </a:extLst>
            </p:cNvPr>
            <p:cNvSpPr/>
            <p:nvPr/>
          </p:nvSpPr>
          <p:spPr>
            <a:xfrm>
              <a:off x="6931876" y="1021394"/>
              <a:ext cx="731767" cy="20631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b="1" dirty="0"/>
                <a:t>BFM</a:t>
              </a:r>
              <a:endParaRPr lang="en-IN" sz="1600" b="1" dirty="0"/>
            </a:p>
          </p:txBody>
        </p:sp>
        <p:sp>
          <p:nvSpPr>
            <p:cNvPr id="33" name="Rectangle: Rounded Corners 32">
              <a:extLst>
                <a:ext uri="{FF2B5EF4-FFF2-40B4-BE49-F238E27FC236}">
                  <a16:creationId xmlns:a16="http://schemas.microsoft.com/office/drawing/2014/main" id="{C2575C7E-43C3-2AF6-4B5F-57E4CF37F6C6}"/>
                </a:ext>
              </a:extLst>
            </p:cNvPr>
            <p:cNvSpPr/>
            <p:nvPr/>
          </p:nvSpPr>
          <p:spPr>
            <a:xfrm>
              <a:off x="8857160" y="2604516"/>
              <a:ext cx="2228416" cy="72929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b="1" dirty="0" err="1"/>
                <a:t>apb_assertions</a:t>
              </a:r>
              <a:endParaRPr lang="en-IN" sz="1600" b="1" dirty="0"/>
            </a:p>
          </p:txBody>
        </p:sp>
        <p:cxnSp>
          <p:nvCxnSpPr>
            <p:cNvPr id="34" name="Connector: Elbow 33">
              <a:extLst>
                <a:ext uri="{FF2B5EF4-FFF2-40B4-BE49-F238E27FC236}">
                  <a16:creationId xmlns:a16="http://schemas.microsoft.com/office/drawing/2014/main" id="{8A05499D-5BE9-6AD8-4264-C65917A8DFFA}"/>
                </a:ext>
              </a:extLst>
            </p:cNvPr>
            <p:cNvCxnSpPr>
              <a:cxnSpLocks/>
              <a:stCxn id="14" idx="3"/>
              <a:endCxn id="33" idx="2"/>
            </p:cNvCxnSpPr>
            <p:nvPr/>
          </p:nvCxnSpPr>
          <p:spPr>
            <a:xfrm flipV="1">
              <a:off x="6309412" y="3333806"/>
              <a:ext cx="3661956" cy="2786387"/>
            </a:xfrm>
            <a:prstGeom prst="bentConnector2">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41" name="TextBox 40">
            <a:extLst>
              <a:ext uri="{FF2B5EF4-FFF2-40B4-BE49-F238E27FC236}">
                <a16:creationId xmlns:a16="http://schemas.microsoft.com/office/drawing/2014/main" id="{DAEF247A-9412-90BC-56C0-BE43C99AC2D8}"/>
              </a:ext>
            </a:extLst>
          </p:cNvPr>
          <p:cNvSpPr txBox="1"/>
          <p:nvPr/>
        </p:nvSpPr>
        <p:spPr>
          <a:xfrm>
            <a:off x="4185811" y="407745"/>
            <a:ext cx="3820378" cy="366428"/>
          </a:xfrm>
          <a:prstGeom prst="rect">
            <a:avLst/>
          </a:prstGeom>
          <a:noFill/>
        </p:spPr>
        <p:txBody>
          <a:bodyPr wrap="square" rtlCol="0">
            <a:spAutoFit/>
          </a:bodyPr>
          <a:lstStyle/>
          <a:p>
            <a:r>
              <a:rPr lang="en-US" b="1" dirty="0"/>
              <a:t>UVM TEST BENCH ARCHITECTURE </a:t>
            </a:r>
            <a:endParaRPr lang="en-IN" b="1" dirty="0"/>
          </a:p>
        </p:txBody>
      </p:sp>
    </p:spTree>
    <p:extLst>
      <p:ext uri="{BB962C8B-B14F-4D97-AF65-F5344CB8AC3E}">
        <p14:creationId xmlns:p14="http://schemas.microsoft.com/office/powerpoint/2010/main" val="826919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00BBC-9DAA-EE32-16B6-5151AB32C755}"/>
              </a:ext>
            </a:extLst>
          </p:cNvPr>
          <p:cNvSpPr>
            <a:spLocks noGrp="1"/>
          </p:cNvSpPr>
          <p:nvPr>
            <p:ph type="title"/>
          </p:nvPr>
        </p:nvSpPr>
        <p:spPr>
          <a:xfrm>
            <a:off x="6580554" y="4165599"/>
            <a:ext cx="5353903" cy="2141415"/>
          </a:xfrm>
        </p:spPr>
        <p:txBody>
          <a:bodyPr>
            <a:normAutofit fontScale="90000"/>
          </a:bodyPr>
          <a:lstStyle/>
          <a:p>
            <a:r>
              <a:rPr lang="en-US" sz="8800" i="1" dirty="0">
                <a:solidFill>
                  <a:srgbClr val="0070C0"/>
                </a:solidFill>
                <a:latin typeface="Bastian" pitchFamily="50" charset="0"/>
              </a:rPr>
              <a:t>Thank you !!!</a:t>
            </a:r>
            <a:endParaRPr lang="en-IN" sz="8800" i="1" dirty="0">
              <a:solidFill>
                <a:srgbClr val="0070C0"/>
              </a:solidFill>
              <a:latin typeface="Bastian" pitchFamily="50" charset="0"/>
            </a:endParaRPr>
          </a:p>
        </p:txBody>
      </p:sp>
    </p:spTree>
    <p:extLst>
      <p:ext uri="{BB962C8B-B14F-4D97-AF65-F5344CB8AC3E}">
        <p14:creationId xmlns:p14="http://schemas.microsoft.com/office/powerpoint/2010/main" val="223257815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952</TotalTime>
  <Words>1349</Words>
  <Application>Microsoft Office PowerPoint</Application>
  <PresentationFormat>Widescreen</PresentationFormat>
  <Paragraphs>105</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Bastian</vt:lpstr>
      <vt:lpstr>Century Gothic</vt:lpstr>
      <vt:lpstr>Times New Roman</vt:lpstr>
      <vt:lpstr>Wingdings 3</vt:lpstr>
      <vt:lpstr>Wisp</vt:lpstr>
      <vt:lpstr>          APB PROTOCOL</vt:lpstr>
      <vt:lpstr>INDEX</vt:lpstr>
      <vt:lpstr>INTRODUCTION OF AMBA</vt:lpstr>
      <vt:lpstr>AMBA BUS ARCHIETICTURE </vt:lpstr>
      <vt:lpstr>APB PROTOCOL</vt:lpstr>
      <vt:lpstr>Signal Descriptions </vt:lpstr>
      <vt:lpstr>SIGNAL DESCRIPTIONS..</vt:lpstr>
      <vt:lpstr>     MASTER- SLAVE COMMUNICATION:</vt:lpstr>
      <vt:lpstr>STATE MACHINE:</vt:lpstr>
      <vt:lpstr>WRITE TRANSFERS:  This section describes the following types of write transfer:     • With no wait states     • With wait states  All signals shown in this section are sampled at the rising edge of PCLK.  With no wait states:   The Setup phase of the write transfer occurs at T1 in Figure.  The select signal, PSELx, is asserted, which means that PADDR, PWRITE and PWDATA must be valid.  The Access phase of the write transfer is shown at T2 in Figure. where PENABLE is asserted.  PREADY is asserted by the Completer at the rising edge of PCLK to indicate that the write data will be accepted at T3. PADDR, PWDATA, and any other control signals, must be stable until the transfer completes. At the end of the transfer, PENABLE is deasserted. PSELx is also deasserted, unless there is another transfer to the same peripheral. </vt:lpstr>
      <vt:lpstr>PowerPoint Presentation</vt:lpstr>
      <vt:lpstr>With wait state:  During an Access phase, when PENABLE is HIGH, the APB peripheral  extends the transfer by driving PREADY  LOW. The following signals remain unchanged while PREADY remains LOW:   • Address signal, PADDR  • Direction signal, PWRITE  • Select signal, PSELx  • Enable signal, PENABLE  • Write data signal, PWDATA  • PREADY can take any value when PENABLE is LOW. This ensures that peripherals that have a fixed two cycle access can tie PREADY HIGH.</vt:lpstr>
      <vt:lpstr>PowerPoint Presentation</vt:lpstr>
      <vt:lpstr>READ TRANSFER:  Two types of read transfer are described in this section:   • With no wait states   • With wait states  All signals shown in this section are sampled at the rising edge of PCLK.  With no wait states:  The timing of the address, PADDR, write, PWRITE, select, PSELx, and enable, PENABLE, signals are the same as described in Write transfers on page.  The Completer must provide the data before the end of the read transfer.</vt:lpstr>
      <vt:lpstr>PowerPoint Presentation</vt:lpstr>
      <vt:lpstr>With wait states:  The transfer is extended if PREADY is driven LOW during an Access phase. The following signals remain unchanged while PREADY remains LOW:  • Address signal, PADDR  • Direction signal, PWRITE  • Select signal, PSEL  • Enable signal, PENABLE  </vt:lpstr>
      <vt:lpstr>Error response:  PSLVERR can be used to indicate an error condition on an APB transfer. Error conditions can occur on both read and write transactions.  PSLVERR is only considered valid during the last cycle of an APB transfer, when PSEL, PENABLE, and PREADY are all HIGH.  It is recommended, but not required, that PSLVERR is driven LOW when PSEL, PENABLE, or PREADY are LOW.  Transactions that receive an error might or might not have changed the state of the peripheral. This is peripheral-specific and either state is acceptable.  When a write transaction receives an error, this does not mean that the register within the peripheral has not been updated.  Read transactions that receive an error can return invalid data. There is no requirement for the peripheral to drive the data bus to all 0s for a read error.  A Requester which receives an error response to a read transfer might still use the data.  A Completer cannot rely on the error response to prevent the reading of a value on PRDATA.  Completers are not required to support PSLVERR. Where a Peripheral does not include PSLVERR, the appropriate input to the Requester is tied LOW.  </vt:lpstr>
      <vt:lpstr>Write transfer error:  An example of a failing write transfer that completes with an error. </vt:lpstr>
      <vt:lpstr>Read transfer error: A read transfer can also complete with an error response, indicating that there is no valid read data available.</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APB PROTOCOL</dc:title>
  <dc:creator>best buy</dc:creator>
  <cp:lastModifiedBy>Phaneendra Maddibboina</cp:lastModifiedBy>
  <cp:revision>50</cp:revision>
  <dcterms:created xsi:type="dcterms:W3CDTF">2022-06-20T10:23:03Z</dcterms:created>
  <dcterms:modified xsi:type="dcterms:W3CDTF">2026-01-06T11:39:49Z</dcterms:modified>
</cp:coreProperties>
</file>